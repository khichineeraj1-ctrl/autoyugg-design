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E2W Sales (Lakh units)</c:v>
                </c:pt>
              </c:strCache>
            </c:strRef>
          </c:tx>
          <c:spPr>
            <a:solidFill>
              <a:srgbClr val="009B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B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B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E5C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</c:v>
                </c:pt>
                <c:pt idx="1">
                  <c:v>8.5</c:v>
                </c:pt>
                <c:pt idx="2">
                  <c:v>17.3</c:v>
                </c:pt>
                <c:pt idx="3">
                  <c:v>27.1</c:v>
                </c:pt>
                <c:pt idx="4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A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F1F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A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0D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5486400" cy="54864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3657600" cy="365760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GENERATION PARTNERSHIP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Fuel OLA's Growth.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India's #1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 Discovery Platform.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BikeDekho delivers high-intent EV buyers directly to OLA Electric — at scale.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0"/>
            <a:ext cx="228600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943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BikeDekho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5943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OLA Electric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EV REVOLUTION IS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Electric 2-Wheeler Market is Exploding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474720" cy="150876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2.7M+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E2W units sold in FY2025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35% YoY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60520" y="1371600"/>
            <a:ext cx="3474720" cy="150876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₹8,000 Cr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34340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digital ad spend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2606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 FY2025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55280" y="1371600"/>
            <a:ext cx="3474720" cy="150876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13816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research online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0" y="2606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visiting dealership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E2W Sales in India (Lakh Units)</a:t>
            </a:r>
            <a:endParaRPr lang="en-US" sz="9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3291840"/>
          <a:ext cx="114300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56875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Electric leads with ~35% market share in E2W — but the battle for the next 10 million buyers has just begun.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Standing Out in a Crowded EV Market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303520" cy="1325880"/>
          </a:xfrm>
          <a:prstGeom prst="rect">
            <a:avLst/>
          </a:prstGeom>
          <a:solidFill>
            <a:srgbClr val="1A1A35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54864" cy="13258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Ather 450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984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₹1.35L+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267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Premium tech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5054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Loyal, niche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5303520" cy="1325880"/>
          </a:xfrm>
          <a:prstGeom prst="rect">
            <a:avLst/>
          </a:prstGeom>
          <a:solidFill>
            <a:srgbClr val="1A1A35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554480"/>
            <a:ext cx="54864" cy="13258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TVS iQube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91072" y="1984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₹1.09L+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1072" y="2267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TVS network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91072" y="25054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Tier 2 push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5303520" cy="1325880"/>
          </a:xfrm>
          <a:prstGeom prst="rect">
            <a:avLst/>
          </a:prstGeom>
          <a:solidFill>
            <a:srgbClr val="1A1A35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54864" cy="13258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Bajaj Chetak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3447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₹1.16L+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Heritage brand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39684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Price aggression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5303520" cy="1325880"/>
          </a:xfrm>
          <a:prstGeom prst="rect">
            <a:avLst/>
          </a:prstGeom>
          <a:solidFill>
            <a:srgbClr val="1A1A35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3017520"/>
            <a:ext cx="54864" cy="13258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Hero Vida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91072" y="3447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₹1.09L+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Widest reach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39684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Mass market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4572000"/>
            <a:ext cx="5760720" cy="1920240"/>
          </a:xfrm>
          <a:prstGeom prst="rect">
            <a:avLst/>
          </a:prstGeom>
          <a:solidFill>
            <a:srgbClr val="1A1A35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645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OLA Faces Today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3640" y="50109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 CPL on generic Google/Meta campaigns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63640" y="54406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 lead quality from broad audiences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63640" y="58704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Competitors eating into Tier 2 &amp; 3 share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4572000"/>
            <a:ext cx="5486400" cy="192024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6451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Answer: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0292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buyers who are already researching OLA — at the moment of maximum intent.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Largest Auto Discovery Ecosystem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486400" cy="411480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0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BikeDekho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#1 two-wheeler discovery platform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7706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 monthly users researching bikes &amp; scooters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3924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Model-level pages, specs, reviews, comparisons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01421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ride bookings &amp; dealer connect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4636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Electric has dedicated brand &amp; model pages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5486400" cy="4114800"/>
          </a:xfrm>
          <a:prstGeom prst="rect">
            <a:avLst/>
          </a:prstGeom>
          <a:solidFill>
            <a:srgbClr val="1A1A35"/>
          </a:solidFill>
          <a:ln w="12700">
            <a:solidFill>
              <a:srgbClr val="5555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463040"/>
            <a:ext cx="5486400" cy="502920"/>
          </a:xfrm>
          <a:prstGeom prst="rect">
            <a:avLst/>
          </a:prstGeom>
          <a:solidFill>
            <a:srgbClr val="555588"/>
          </a:solidFill>
          <a:ln w="12700">
            <a:solidFill>
              <a:srgbClr val="5555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63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CarDekho Group (Parent)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1488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 monthly visits across properties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27706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Gaadi.com, ZigWheels, CarDekho, BikeDekho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33924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in 1,500+ cities across India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401421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50+ OEM partners (4W + 2W)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4636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 Indian exchanges (GirnarSoft)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REACH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 That Move the Needle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20116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50M+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BikeDekho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651760" cy="20116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8M+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37560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EV-specific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views/month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2651760" cy="20116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4L+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63640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leads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monthly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1554480"/>
            <a:ext cx="2651760" cy="20116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1,500+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89720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OLA LEAD FUNNEL ON BIKEDEKHO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251960"/>
            <a:ext cx="10058400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5196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 ·  OLA brand/model pages, editorial reviews, EV guides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280160" y="4818888"/>
            <a:ext cx="8412480" cy="475488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48188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  ·  Compare OLA vs Ather vs iQube — user initiates comparison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94560" y="5385816"/>
            <a:ext cx="6766560" cy="475488"/>
          </a:xfrm>
          <a:prstGeom prst="rect">
            <a:avLst/>
          </a:prstGeom>
          <a:solidFill>
            <a:srgbClr val="007A64"/>
          </a:solidFill>
          <a:ln w="12700">
            <a:solidFill>
              <a:srgbClr val="007A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538581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 ·  User fills EMI calculator, checks dealership, saves model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0" y="5952744"/>
            <a:ext cx="5120640" cy="47548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595274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 ·  Test ride request, price quote, financing enquiry → delivered to OLA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BIKEDEKHO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Intent-First Leads. Not Just Impressions.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6400800" cy="146304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20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727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Purchase Intent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75104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 BikeDekho are actively researching — comparing specs, checking prices, reading reviews. Average 4.5 pages/session on EV content.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6400800" cy="146304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24612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2186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Model-Specific Targeting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21024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can be segmented by OLA S1, S1 Pro, S1 Air, or EV Bike — so your sales team knows exactly what the buyer wants before calling.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800600"/>
            <a:ext cx="6400800" cy="146304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489204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8646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Geography-Pinned Leads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266944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 city-level leads mapped to your nearest OLA Experience Centre. Zero lead wastage from cities without service coverage.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1508760"/>
            <a:ext cx="4754880" cy="502920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QUALITY SNAPSHOT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2057400"/>
            <a:ext cx="4389120" cy="658368"/>
          </a:xfrm>
          <a:prstGeom prst="rect">
            <a:avLst/>
          </a:prstGeom>
          <a:solidFill>
            <a:srgbClr val="1A1A3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21031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Lead-to-Test-Ride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0" y="2103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23760" y="2862072"/>
            <a:ext cx="4389120" cy="658368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29077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Lead-to-Purchase 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0" y="29077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12–18%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23760" y="3666744"/>
            <a:ext cx="4389120" cy="658368"/>
          </a:xfrm>
          <a:prstGeom prst="rect">
            <a:avLst/>
          </a:prstGeom>
          <a:solidFill>
            <a:srgbClr val="1A1A3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37124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Lead Rate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0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23760" y="4471416"/>
            <a:ext cx="4389120" cy="658368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45171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Validity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0" y="45171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&gt;94%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223760" y="5276088"/>
            <a:ext cx="4389120" cy="658368"/>
          </a:xfrm>
          <a:prstGeom prst="rect">
            <a:avLst/>
          </a:prstGeom>
          <a:solidFill>
            <a:srgbClr val="1A1A3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53218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SLA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0" y="53218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API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ADVANTAGE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BikeDekho Compares to Other Lead Sources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926080" cy="457200"/>
          </a:xfrm>
          <a:prstGeom prst="rect">
            <a:avLst/>
          </a:prstGeom>
          <a:solidFill>
            <a:srgbClr val="333355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508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508760"/>
            <a:ext cx="201168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BikeDekho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57800" y="1508760"/>
            <a:ext cx="2011680" cy="457200"/>
          </a:xfrm>
          <a:prstGeom prst="rect">
            <a:avLst/>
          </a:prstGeom>
          <a:solidFill>
            <a:srgbClr val="333355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0952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69480" y="1508760"/>
            <a:ext cx="2011680" cy="457200"/>
          </a:xfrm>
          <a:prstGeom prst="rect">
            <a:avLst/>
          </a:prstGeom>
          <a:solidFill>
            <a:srgbClr val="333355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42632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 Ads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81160" y="1508760"/>
            <a:ext cx="2011680" cy="457200"/>
          </a:xfrm>
          <a:prstGeom prst="rect">
            <a:avLst/>
          </a:prstGeom>
          <a:solidFill>
            <a:srgbClr val="333355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54312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OEM Website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965960"/>
            <a:ext cx="29260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9659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Intent Level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1965960"/>
            <a:ext cx="2011680" cy="594360"/>
          </a:xfrm>
          <a:prstGeom prst="rect">
            <a:avLst/>
          </a:prstGeom>
          <a:solidFill>
            <a:srgbClr val="003D31"/>
          </a:solidFill>
          <a:ln w="12700">
            <a:solidFill>
              <a:srgbClr val="009B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965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196596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1965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69480" y="196596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2632" y="1965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81160" y="196596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54312" y="1965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560320"/>
            <a:ext cx="29260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560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EV-Specific Targeting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2560320"/>
            <a:ext cx="2011680" cy="594360"/>
          </a:xfrm>
          <a:prstGeom prst="rect">
            <a:avLst/>
          </a:prstGeom>
          <a:solidFill>
            <a:srgbClr val="002A22"/>
          </a:solidFill>
          <a:ln w="12700">
            <a:solidFill>
              <a:srgbClr val="009B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Model-level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57800" y="2560320"/>
            <a:ext cx="20116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0952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Keyword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69480" y="2560320"/>
            <a:ext cx="20116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2632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Interest only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281160" y="2560320"/>
            <a:ext cx="20116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54312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154680"/>
            <a:ext cx="29260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3154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Geo-Level Lead Routing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46120" y="3154680"/>
            <a:ext cx="2011680" cy="594360"/>
          </a:xfrm>
          <a:prstGeom prst="rect">
            <a:avLst/>
          </a:prstGeom>
          <a:solidFill>
            <a:srgbClr val="003D31"/>
          </a:solidFill>
          <a:ln w="12700">
            <a:solidFill>
              <a:srgbClr val="009B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9272" y="3154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City-mapped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57800" y="315468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0952" y="3154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Limited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69480" y="315468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42632" y="3154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Limited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281160" y="315468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54312" y="3154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Manual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749040"/>
            <a:ext cx="29260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3749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Duplication Rate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46120" y="3749040"/>
            <a:ext cx="2011680" cy="594360"/>
          </a:xfrm>
          <a:prstGeom prst="rect">
            <a:avLst/>
          </a:prstGeom>
          <a:solidFill>
            <a:srgbClr val="002A22"/>
          </a:solidFill>
          <a:ln w="12700">
            <a:solidFill>
              <a:srgbClr val="009B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9272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7800" y="3749040"/>
            <a:ext cx="20116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30952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69480" y="3749040"/>
            <a:ext cx="20116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42632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281160" y="3749040"/>
            <a:ext cx="20116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54312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0040" y="4343400"/>
            <a:ext cx="29260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3192" y="4343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Range (EV segment)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246120" y="4343400"/>
            <a:ext cx="2011680" cy="594360"/>
          </a:xfrm>
          <a:prstGeom prst="rect">
            <a:avLst/>
          </a:prstGeom>
          <a:solidFill>
            <a:srgbClr val="003D31"/>
          </a:solidFill>
          <a:ln w="12700">
            <a:solidFill>
              <a:srgbClr val="009B8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19272" y="4343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₹350–600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257800" y="434340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30952" y="4343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₹600–1,200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269480" y="434340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42632" y="4343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₹400–900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281160" y="434340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54312" y="4343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0040" y="4937760"/>
            <a:ext cx="29260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3192" y="4937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Delivery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246120" y="4937760"/>
            <a:ext cx="2011680" cy="594360"/>
          </a:xfrm>
          <a:prstGeom prst="rect">
            <a:avLst/>
          </a:prstGeom>
          <a:solidFill>
            <a:srgbClr val="002A22"/>
          </a:solidFill>
          <a:ln w="12700">
            <a:solidFill>
              <a:srgbClr val="009B8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19272" y="4937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257800" y="4937760"/>
            <a:ext cx="20116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30952" y="4937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(via CRM)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269480" y="4937760"/>
            <a:ext cx="20116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42632" y="4937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(via CRM)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9281160" y="4937760"/>
            <a:ext cx="2011680" cy="594360"/>
          </a:xfrm>
          <a:prstGeom prst="rect">
            <a:avLst/>
          </a:prstGeom>
          <a:solidFill>
            <a:srgbClr val="0D0D1E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354312" y="4937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20040" y="5532120"/>
            <a:ext cx="29260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93192" y="55321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Trust (SEO)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246120" y="5532120"/>
            <a:ext cx="2011680" cy="594360"/>
          </a:xfrm>
          <a:prstGeom prst="rect">
            <a:avLst/>
          </a:prstGeom>
          <a:solidFill>
            <a:srgbClr val="003D31"/>
          </a:solidFill>
          <a:ln w="12700">
            <a:solidFill>
              <a:srgbClr val="009B8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19272" y="5532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 DA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257800" y="553212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30952" y="5532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269480" y="553212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42632" y="5532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281160" y="5532120"/>
            <a:ext cx="201168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354312" y="5532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Own site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CPL data based on BikeDekho OEM campaign averages. Competitor estimates from industry benchmarks.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 FOR OLA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Lead Engine Built for OLA Electric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3657600" cy="160020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673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Dedicated OLA 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6712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+ all model pages on BikeDekho with updated specs, pricing, colours, and user reviews — permanent SEO real estate.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3657600" cy="160020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69164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673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Model-Level Lead Capture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16712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lead forms for S1, S1 Pro, S1 Pro Gen 3, and upcoming Roadster — routed to the right sales team automatically.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1508760"/>
            <a:ext cx="3657600" cy="160020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69164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69680" y="1673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Ride Leads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216712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book test rides via BikeDekho; geo-routed to OLA Experience Centres with date preference and model selection.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3657600" cy="160020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4107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Finance-Ready Leads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9044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EMI calculator with lead capture — buyer submits income details, is tagged as 'finance-ready' for your DSA.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3246120"/>
            <a:ext cx="3657600" cy="160020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342900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4107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API Delivery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0" y="39044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pushed to your CRM in real-time via REST API with full UTM attribution, device, and city metadata.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83880" y="3246120"/>
            <a:ext cx="3657600" cy="160020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342900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869680" y="34107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Performance Reports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39044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CPL, lead volume, test-ride conversion, city-wise breakdown — transparent reporting with dedicated account manager.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5120640"/>
            <a:ext cx="11521440" cy="54864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138928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solutions are live-ready within 7 business days of agreement signing.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We've Delivered for EV OEM Partners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3566160" cy="411480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356616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Electric Scooter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 OEM Partner 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3383280" cy="41148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42% lower CPL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2.2L leads in 12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301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CPL dropped 42% vs Google 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9709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18% lead-to-test-ride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6402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Expanded from 15 → 80 cities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508760"/>
            <a:ext cx="3566160" cy="411480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508760"/>
            <a:ext cx="3566160" cy="457200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Commuter Segment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51960" y="2057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 OEM Partner 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51960" y="2514600"/>
            <a:ext cx="3383280" cy="41148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34% finance-ready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30632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95K test-ride bookings in 6 months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36301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Finance-ready leads: 34% share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419709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Zero duplicate rate via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476402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#1 brand SOV on BikeDekho EV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01000" y="1508760"/>
            <a:ext cx="3566160" cy="4114800"/>
          </a:xfrm>
          <a:prstGeom prst="rect">
            <a:avLst/>
          </a:prstGeom>
          <a:solidFill>
            <a:srgbClr val="1A1A35"/>
          </a:solidFill>
          <a:ln w="12700">
            <a:solidFill>
              <a:srgbClr val="2A2A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01000" y="1508760"/>
            <a:ext cx="3566160" cy="457200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Segment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92440" y="2057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 OEM Partner 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92440" y="2514600"/>
            <a:ext cx="3383280" cy="41148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 ROI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38160" y="30632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S-class leads: avg income 8L+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38160" y="36301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78% contact validity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419709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3x ROI vs display campaigns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476402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CRM sync: 0 lag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5943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Brand names anonymized per NDA. Full case studies available on request.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7315200" cy="731520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286000"/>
            <a:ext cx="6400800" cy="64008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868680"/>
            <a:ext cx="9144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Put OLA Electric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Front of Every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Serious EV Buyer.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3291840" cy="15544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4325112"/>
            <a:ext cx="411480" cy="4114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325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430682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 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4800600"/>
            <a:ext cx="3072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call to align on OLA's city priorities &amp; lead volume targets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4160520"/>
            <a:ext cx="3291840" cy="15544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44568" y="4325112"/>
            <a:ext cx="411480" cy="4114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4325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430682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Proposal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44568" y="4800600"/>
            <a:ext cx="3072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pilot — 2 cities, 2 models — with CPL guarantee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4160520"/>
            <a:ext cx="3291840" cy="15544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30768" y="4325112"/>
            <a:ext cx="411480" cy="4114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4325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15400" y="430682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Live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30768" y="4800600"/>
            <a:ext cx="3072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 &amp; API setup — fully live in 7 business days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6035040"/>
            <a:ext cx="11521440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603504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partnerships@bikedekho.com  ·  bikedekho.com/advertise  ·  BikeDekho OEM Team, Gurugram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BikeDekho × OLA Electric – Lead Generation Partnership</dc:title>
  <dc:subject>PptxGenJS Presentation</dc:subject>
  <dc:creator>PptxGenJS</dc:creator>
  <cp:lastModifiedBy>PptxGenJS</cp:lastModifiedBy>
  <cp:revision>1</cp:revision>
  <dcterms:created xsi:type="dcterms:W3CDTF">2026-06-06T02:29:05Z</dcterms:created>
  <dcterms:modified xsi:type="dcterms:W3CDTF">2026-06-06T02:29:05Z</dcterms:modified>
</cp:coreProperties>
</file>