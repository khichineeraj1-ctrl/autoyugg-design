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1064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 Is Becoming the New Battleground for EV Market Share.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4864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decisions increasingly precede retail engagement.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1828800"/>
            <a:ext cx="11064240" cy="0"/>
          </a:xfrm>
          <a:prstGeom prst="line">
            <a:avLst/>
          </a:prstGeom>
          <a:noFill/>
          <a:ln w="15240">
            <a:solidFill>
              <a:srgbClr val="003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19019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How Buyers Decide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22311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is formed well before retail engagement.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97680" y="1901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the Data Shows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97680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EV 2W market is maturing rapidly.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503920" y="19019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It Matters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22311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growth and market share.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1828800"/>
            <a:ext cx="0" cy="4434840"/>
          </a:xfrm>
          <a:prstGeom prst="line">
            <a:avLst/>
          </a:prstGeom>
          <a:noFill/>
          <a:ln w="6350">
            <a:solidFill>
              <a:srgbClr val="D0D3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75320" y="1828800"/>
            <a:ext cx="0" cy="4434840"/>
          </a:xfrm>
          <a:prstGeom prst="line">
            <a:avLst/>
          </a:prstGeom>
          <a:noFill/>
          <a:ln w="6350">
            <a:solidFill>
              <a:srgbClr val="D0D3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2633472"/>
            <a:ext cx="3383280" cy="201168"/>
          </a:xfrm>
          <a:prstGeom prst="rect">
            <a:avLst/>
          </a:prstGeom>
          <a:solidFill>
            <a:srgbClr val="E8F5EE"/>
          </a:solidFill>
          <a:ln w="12700">
            <a:solidFill>
              <a:srgbClr val="9DC8A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26334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FORMATION ZONE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566928" y="2944368"/>
            <a:ext cx="457200" cy="457200"/>
          </a:xfrm>
          <a:prstGeom prst="ellipse">
            <a:avLst/>
          </a:prstGeom>
          <a:solidFill>
            <a:srgbClr val="E8F5EE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843D"/>
                </a:solidFill>
              </a:rPr>
              <a:t>⊙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24128" y="3172968"/>
            <a:ext cx="219456" cy="0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" y="345643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252728" y="2944368"/>
            <a:ext cx="457200" cy="457200"/>
          </a:xfrm>
          <a:prstGeom prst="ellipse">
            <a:avLst/>
          </a:prstGeom>
          <a:solidFill>
            <a:srgbClr val="E8F5EE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5272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843D"/>
                </a:solidFill>
              </a:rPr>
              <a:t>≡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709928" y="3172968"/>
            <a:ext cx="219456" cy="0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79576" y="345643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938528" y="2944368"/>
            <a:ext cx="457200" cy="457200"/>
          </a:xfrm>
          <a:prstGeom prst="ellipse">
            <a:avLst/>
          </a:prstGeom>
          <a:solidFill>
            <a:srgbClr val="E8F5EE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3852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843D"/>
                </a:solidFill>
              </a:rPr>
              <a:t>✓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395728" y="3172968"/>
            <a:ext cx="219456" cy="0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65376" y="345643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624328" y="2944368"/>
            <a:ext cx="45720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2432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☰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081528" y="3172968"/>
            <a:ext cx="219456" cy="0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51176" y="345643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310128" y="2944368"/>
            <a:ext cx="457200" cy="45720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→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236976" y="345643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297680" y="2578608"/>
            <a:ext cx="18288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297680" y="2578608"/>
            <a:ext cx="182880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07408" y="267004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1.4M+</a:t>
            </a:r>
            <a:endParaRPr lang="en-US" sz="2400" dirty="0"/>
          </a:p>
        </p:txBody>
      </p:sp>
      <p:sp>
        <p:nvSpPr>
          <p:cNvPr id="59" name="Text 57"/>
          <p:cNvSpPr/>
          <p:nvPr/>
        </p:nvSpPr>
        <p:spPr>
          <a:xfrm>
            <a:off x="4407408" y="312724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2W sales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355080" y="2578608"/>
            <a:ext cx="18288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355080" y="2578608"/>
            <a:ext cx="182880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64808" y="267004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6464808" y="312724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penetration of total 2W sales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297680" y="3749040"/>
            <a:ext cx="18288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297680" y="3749040"/>
            <a:ext cx="182880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07408" y="38404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 10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4407408" y="429768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research online before retail engagement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355080" y="3749040"/>
            <a:ext cx="18288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355080" y="3749040"/>
            <a:ext cx="182880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64808" y="38404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2400" dirty="0"/>
          </a:p>
        </p:txBody>
      </p:sp>
      <p:sp>
        <p:nvSpPr>
          <p:cNvPr id="71" name="Text 69"/>
          <p:cNvSpPr/>
          <p:nvPr/>
        </p:nvSpPr>
        <p:spPr>
          <a:xfrm>
            <a:off x="6464808" y="429768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— top 3 players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97680" y="4773168"/>
            <a:ext cx="3749040" cy="658368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297680" y="4773168"/>
            <a:ext cx="45720" cy="65836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434840" y="4773168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marketing investments remain optimized around lead generation, not preference creation.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8503920" y="2578608"/>
            <a:ext cx="3337560" cy="804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8631936" y="2743200"/>
            <a:ext cx="274320" cy="274320"/>
          </a:xfrm>
          <a:prstGeom prst="ellipse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631936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8997696" y="26700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engagement begins later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997696" y="3017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largely made before the showroom visit.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8503920" y="3493008"/>
            <a:ext cx="3337560" cy="804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8631936" y="3657600"/>
            <a:ext cx="274320" cy="274320"/>
          </a:xfrm>
          <a:prstGeom prst="ellipse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631936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8997696" y="35844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volume ≠ market share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8997696" y="3931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metrics mask pre-retail preference gaps.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8503920" y="4407408"/>
            <a:ext cx="3337560" cy="804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8631936" y="4572000"/>
            <a:ext cx="274320" cy="274320"/>
          </a:xfrm>
          <a:prstGeom prst="ellipse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631936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997696" y="44988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influence improves conversion efficiency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8997696" y="4846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Capturing buyers at discovery stage cuts CAC materially.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0" y="6016752"/>
            <a:ext cx="12161520" cy="621792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48640" y="6016752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 10</a:t>
            </a:r>
            <a:endParaRPr lang="en-US" sz="1800" dirty="0"/>
          </a:p>
        </p:txBody>
      </p:sp>
      <p:sp>
        <p:nvSpPr>
          <p:cNvPr id="92" name="Text 90"/>
          <p:cNvSpPr/>
          <p:nvPr/>
        </p:nvSpPr>
        <p:spPr>
          <a:xfrm>
            <a:off x="1691640" y="6016752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research before retail engagement.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412480" y="601675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Vahan, JMK Research, BCG EV Consumer Survey.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6591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FUNNEL FAILURE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EV Buyers Decide Before the Lead Form.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Has No Signal for This.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8640" y="17556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systems maximize volume, not purchase intent — and the data shows the cost.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2103120"/>
            <a:ext cx="11064240" cy="0"/>
          </a:xfrm>
          <a:prstGeom prst="line">
            <a:avLst/>
          </a:prstGeom>
          <a:noFill/>
          <a:ln w="12700">
            <a:solidFill>
              <a:srgbClr val="0033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212848"/>
            <a:ext cx="3520440" cy="2423160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02920" y="2212848"/>
            <a:ext cx="35204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" y="237744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04088" y="3127248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leads lack actionable purchase signals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04088" y="3602736"/>
            <a:ext cx="3118104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" y="3749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 confirmation. No urgency. No model preference. Just a name and a phone number.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2212848"/>
            <a:ext cx="3520440" cy="24231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97680" y="2212848"/>
            <a:ext cx="3520440" cy="54864"/>
          </a:xfrm>
          <a:prstGeom prst="rect">
            <a:avLst/>
          </a:prstGeom>
          <a:solidFill>
            <a:srgbClr val="001F3F"/>
          </a:solidFill>
          <a:ln w="12700">
            <a:solidFill>
              <a:srgbClr val="001F3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8848" y="237744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bounce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4498848" y="3127248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ad-driven platforms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98848" y="3602736"/>
            <a:ext cx="3118104" cy="0"/>
          </a:xfrm>
          <a:prstGeom prst="line">
            <a:avLst/>
          </a:prstGeom>
          <a:noFill/>
          <a:ln w="6350">
            <a:solidFill>
              <a:srgbClr val="1A3A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98848" y="3749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Low-engagement cohorts drive inflated traffic numbers that hide fundamental lead quality problems.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92440" y="2212848"/>
            <a:ext cx="3520440" cy="2423160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092440" y="2212848"/>
            <a:ext cx="35204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93608" y="237744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effort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8293608" y="3127248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filtering, not selling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293608" y="3602736"/>
            <a:ext cx="3118104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93608" y="3749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teams spend disproportionate time qualifying leads that should never have been passed.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4791456"/>
            <a:ext cx="1115568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49011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77240" y="5230368"/>
            <a:ext cx="32918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77240" y="5230368"/>
            <a:ext cx="32918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1832" y="53035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1435608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CAC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343400" y="5230368"/>
            <a:ext cx="32918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343400" y="5230368"/>
            <a:ext cx="32918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07992" y="53035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5001768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conversion rates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909560" y="5230368"/>
            <a:ext cx="32918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909560" y="5230368"/>
            <a:ext cx="32918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74152" y="53035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8567928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sales cycles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8610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INTENT ACTUALLY EMERGES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highest-intent moment occurs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comparison — not form fill.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8640" y="2176272"/>
            <a:ext cx="11064240" cy="0"/>
          </a:xfrm>
          <a:prstGeom prst="line">
            <a:avLst/>
          </a:prstGeom>
          <a:noFill/>
          <a:ln w="12700">
            <a:solidFill>
              <a:srgbClr val="0033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3408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EVALUATE AT THIS STAGE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8640" y="2697480"/>
            <a:ext cx="5303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2697480"/>
            <a:ext cx="45720" cy="1261872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2862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alternatives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9808" y="32644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comparison of OLA S1 Pro against Ather 450X, TVS iQube. Real purchase consideration — not early awareness browsing.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142232"/>
            <a:ext cx="53035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8640" y="4142232"/>
            <a:ext cx="45720" cy="1261872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3068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performance, use-case fit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49808" y="47091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commute vs weekend riding. Buyers are matching specs to their actual life. This reflects true purchase intent.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2240280"/>
            <a:ext cx="0" cy="4041648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23408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GAP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492240" y="2697480"/>
            <a:ext cx="5303520" cy="324612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2944368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today captures and qualifies users at this decision stage.</a:t>
            </a:r>
            <a:endParaRPr lang="en-US" sz="2300" dirty="0"/>
          </a:p>
        </p:txBody>
      </p:sp>
      <p:sp>
        <p:nvSpPr>
          <p:cNvPr id="39" name="Shape 37"/>
          <p:cNvSpPr/>
          <p:nvPr/>
        </p:nvSpPr>
        <p:spPr>
          <a:xfrm>
            <a:off x="6675120" y="4645152"/>
            <a:ext cx="4937760" cy="0"/>
          </a:xfrm>
          <a:prstGeom prst="line">
            <a:avLst/>
          </a:prstGeom>
          <a:noFill/>
          <a:ln w="6350">
            <a:solidFill>
              <a:srgbClr val="1A3A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forms, search ads, and portal listings all activate after this window — capturing users post-decision with no intent data.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6057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629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MARKET LAYER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 funnel is broken at the point of maximum intent.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2920" y="1572768"/>
            <a:ext cx="2651760" cy="45902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1572768"/>
            <a:ext cx="265176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1719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85800" y="2286000"/>
            <a:ext cx="2286000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22860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discovery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85800" y="268833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2798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85800" y="3072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conversion layer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351129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363016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Reels and YouTube reviews create awareness but no mechanism exists to capture or qualify the interest generated.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37560" y="1572768"/>
            <a:ext cx="2651760" cy="45902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37560" y="1572768"/>
            <a:ext cx="265176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1719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3520440" y="2286000"/>
            <a:ext cx="2286000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22860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Late-stage intent only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520440" y="268833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20440" y="2798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520440" y="3072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cost, low context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520440" y="351129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20440" y="363016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users who already know the model. Expensive. No behavioral context. No qualification at the point of click.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72200" y="1572768"/>
            <a:ext cx="2651760" cy="4590288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172200" y="1572768"/>
            <a:ext cx="265176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1719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portals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6355080" y="2286000"/>
            <a:ext cx="2286000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22860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listing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355080" y="268833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55080" y="2798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355080" y="3072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guidance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355080" y="3511296"/>
            <a:ext cx="228600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55080" y="363016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BikeDekho, ZigWheels list models. They don't guide decisions. Users compare and leave — no intent captured.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006840" y="1572768"/>
            <a:ext cx="2651760" cy="459028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9006840" y="1572768"/>
            <a:ext cx="2651760" cy="54864"/>
          </a:xfrm>
          <a:prstGeom prst="rect">
            <a:avLst/>
          </a:prstGeom>
          <a:solidFill>
            <a:srgbClr val="001F3F"/>
          </a:solidFill>
          <a:ln w="12700">
            <a:solidFill>
              <a:srgbClr val="001F3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89720" y="171907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9189720" y="2286000"/>
            <a:ext cx="2286000" cy="237744"/>
          </a:xfrm>
          <a:prstGeom prst="rect">
            <a:avLst/>
          </a:prstGeom>
          <a:solidFill>
            <a:srgbClr val="0A2A50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89720" y="22860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+ decision + qualification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9189720" y="2688336"/>
            <a:ext cx="2286000" cy="0"/>
          </a:xfrm>
          <a:prstGeom prst="line">
            <a:avLst/>
          </a:prstGeom>
          <a:noFill/>
          <a:ln w="6350">
            <a:solidFill>
              <a:srgbClr val="1A3A6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89720" y="2798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9189720" y="3072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exist yet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189720" y="3511296"/>
            <a:ext cx="2286000" cy="0"/>
          </a:xfrm>
          <a:prstGeom prst="line">
            <a:avLst/>
          </a:prstGeom>
          <a:noFill/>
          <a:ln w="6350">
            <a:solidFill>
              <a:srgbClr val="1A3A6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89720" y="363016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integrating content discovery, structured comparison, and behavioral intent scoring into a single buyer journey.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08076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proprietary modules no other Indian EV platform offers — built to own the decision layer.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502920" y="1389888"/>
            <a:ext cx="40690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1389888"/>
            <a:ext cx="4069080" cy="54864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389888"/>
            <a:ext cx="45720" cy="13167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3856" y="1563624"/>
            <a:ext cx="1920240" cy="219456"/>
          </a:xfrm>
          <a:prstGeom prst="rect">
            <a:avLst/>
          </a:prstGeom>
          <a:solidFill>
            <a:srgbClr val="E8F5EE"/>
          </a:solidFill>
          <a:ln w="12700">
            <a:solidFill>
              <a:srgbClr val="9DC8A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1563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08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LAYER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658368" y="1901952"/>
            <a:ext cx="3767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entry points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2920" y="2852928"/>
            <a:ext cx="40690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02920" y="2852928"/>
            <a:ext cx="4069080" cy="54864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2852928"/>
            <a:ext cx="45720" cy="1316736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301752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6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133856" y="3026664"/>
            <a:ext cx="1920240" cy="219456"/>
          </a:xfrm>
          <a:prstGeom prst="rect">
            <a:avLst/>
          </a:prstGeom>
          <a:solidFill>
            <a:srgbClr val="D6EAF8"/>
          </a:solidFill>
          <a:ln w="12700">
            <a:solidFill>
              <a:srgbClr val="8AAF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3856" y="30266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1D6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658368" y="3364992"/>
            <a:ext cx="3767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Finder + pricing tools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40690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02920" y="4315968"/>
            <a:ext cx="406908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4315968"/>
            <a:ext cx="45720" cy="1316736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48056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33856" y="4489704"/>
            <a:ext cx="1920240" cy="219456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33856" y="448970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 LAYER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658368" y="4828032"/>
            <a:ext cx="3767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BYC intent scoring + CRM routing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773168" y="1325880"/>
            <a:ext cx="0" cy="4645152"/>
          </a:xfrm>
          <a:prstGeom prst="line">
            <a:avLst/>
          </a:prstGeom>
          <a:noFill/>
          <a:ln w="6350">
            <a:solidFill>
              <a:srgbClr val="D0D3D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956048" y="1389888"/>
            <a:ext cx="6931152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77800" dist="38100" dir="8100000">
              <a:srgbClr val="000000">
                <a:alpha val="9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956048" y="1389888"/>
            <a:ext cx="6931152" cy="54864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56048" y="1389888"/>
            <a:ext cx="45720" cy="2084832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38928" y="1517904"/>
            <a:ext cx="1536192" cy="219456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38928" y="151790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FIRST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784848" y="1490472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Finder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5138928" y="1920240"/>
            <a:ext cx="6601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buyers through spec-to-model matching with live on-road pricing by city. No other platform in India does this.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38928" y="2450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413248" y="2450592"/>
            <a:ext cx="6382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 list models. They don't guide decisions or capture variant preference.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13892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413248" y="2743200"/>
            <a:ext cx="6382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ads don't know which variant the user compared or at what price.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138928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413248" y="3035808"/>
            <a:ext cx="6382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captures exact variant, on-road price, and city — at the moment of shortlisting.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956048" y="3621024"/>
            <a:ext cx="6931152" cy="2212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77800" dist="38100" dir="8100000">
              <a:srgbClr val="000000">
                <a:alpha val="9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4956048" y="3621024"/>
            <a:ext cx="6931152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956048" y="3621024"/>
            <a:ext cx="45720" cy="221284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3749040"/>
            <a:ext cx="1874520" cy="219456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38928" y="3749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7132320" y="37216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BYC — Build Your Cycle</a:t>
            </a:r>
            <a:endParaRPr lang="en-US" sz="2100" dirty="0"/>
          </a:p>
        </p:txBody>
      </p:sp>
      <p:sp>
        <p:nvSpPr>
          <p:cNvPr id="66" name="Text 64"/>
          <p:cNvSpPr/>
          <p:nvPr/>
        </p:nvSpPr>
        <p:spPr>
          <a:xfrm>
            <a:off x="5138928" y="4160520"/>
            <a:ext cx="6601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8-signal behavioral wizard that scores every user before routing to OLA — zero unqualified leads passed.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138928" y="4718304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38928" y="4718304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range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7333488" y="4718304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33488" y="4718304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9528048" y="4718304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28048" y="4718304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sensitivity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138928" y="5029200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38928" y="502920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7333488" y="5029200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33488" y="502920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shortlist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528048" y="5029200"/>
            <a:ext cx="2029968" cy="237744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528048" y="502920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138928" y="5431536"/>
            <a:ext cx="6601968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230368" y="54315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90+  →  Hot lead routed to OLA CRM in real time.  No noise. No manual filtering.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0" y="5925312"/>
            <a:ext cx="12161520" cy="713232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5925312"/>
            <a:ext cx="11430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platform in India owns the decision layer and qualifies intent before the lead is passed.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760095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4667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behavioral intent engine filters high-value buyers in real time.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548640" y="1371600"/>
            <a:ext cx="11064240" cy="0"/>
          </a:xfrm>
          <a:prstGeom prst="line">
            <a:avLst/>
          </a:prstGeom>
          <a:noFill/>
          <a:ln w="12700">
            <a:solidFill>
              <a:srgbClr val="0033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4813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CAPTURED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8640" y="1828800"/>
            <a:ext cx="5303520" cy="877824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1828800"/>
            <a:ext cx="530352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2029968"/>
            <a:ext cx="310896" cy="310896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2144" y="19385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financing sensitivity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2144" y="23042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range + EMI willingness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2834640"/>
            <a:ext cx="5303520" cy="877824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48640" y="2834640"/>
            <a:ext cx="530352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3232" y="3035808"/>
            <a:ext cx="310896" cy="310896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2144" y="29443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declaration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52144" y="33101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 / performance / long-distance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3840480"/>
            <a:ext cx="5303520" cy="877824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48640" y="3840480"/>
            <a:ext cx="530352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3232" y="4041648"/>
            <a:ext cx="310896" cy="310896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4041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52144" y="3950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consideration set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52144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models compared and shortlisted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4846320"/>
            <a:ext cx="5303520" cy="877824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48640" y="4846320"/>
            <a:ext cx="530352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3232" y="5047488"/>
            <a:ext cx="310896" cy="310896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52144" y="49560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context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1152144" y="5321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→ nearest OLA experience centre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46520" y="14813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INTENT TIERS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446520" y="1828800"/>
            <a:ext cx="5303520" cy="1078992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446520" y="1828800"/>
            <a:ext cx="5303520" cy="54864"/>
          </a:xfrm>
          <a:prstGeom prst="rect">
            <a:avLst/>
          </a:prstGeom>
          <a:solidFill>
            <a:srgbClr val="001F3F"/>
          </a:solidFill>
          <a:ln w="12700">
            <a:solidFill>
              <a:srgbClr val="001F3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29400" y="195681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6629400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90–100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366760" y="1975104"/>
            <a:ext cx="0" cy="786384"/>
          </a:xfrm>
          <a:prstGeom prst="line">
            <a:avLst/>
          </a:prstGeom>
          <a:noFill/>
          <a:ln w="9525">
            <a:solidFill>
              <a:srgbClr val="1A3A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549640" y="2011680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buy within 30 days. Specific model, budget confirmed, city set.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446520" y="3063240"/>
            <a:ext cx="5303520" cy="107899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6446520" y="3063240"/>
            <a:ext cx="530352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29400" y="319125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6629400" y="36667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60–89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366760" y="3209544"/>
            <a:ext cx="0" cy="786384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549640" y="3246120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shortlisting. 30–90 day window. High engagement on pricing tool.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46520" y="4297680"/>
            <a:ext cx="5303520" cy="107899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6446520" y="4297680"/>
            <a:ext cx="5303520" cy="54864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29400" y="442569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6629400" y="49011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60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366760" y="4443984"/>
            <a:ext cx="0" cy="786384"/>
          </a:xfrm>
          <a:prstGeom prst="line">
            <a:avLst/>
          </a:prstGeom>
          <a:noFill/>
          <a:ln w="9525">
            <a:solidFill>
              <a:srgbClr val="D0D3D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549640" y="4480560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stage. Content nurture sequence. Not passed to OLA sales.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446520" y="5559552"/>
            <a:ext cx="5303520" cy="822960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46520" y="5559552"/>
            <a:ext cx="45720" cy="8229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29400" y="55595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high-intent users are passed to OLA — reducing lead noise by design.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912114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6686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user behavior reflects active purchase evaluation — not passive browsing.</a:t>
            </a:r>
            <a:endParaRPr lang="en-US" sz="2300" dirty="0"/>
          </a:p>
        </p:txBody>
      </p:sp>
      <p:sp>
        <p:nvSpPr>
          <p:cNvPr id="25" name="Shape 2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0033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572768"/>
            <a:ext cx="3520440" cy="3090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1572768"/>
            <a:ext cx="35204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1737360"/>
            <a:ext cx="31181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704088" y="250545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/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" y="28072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typical browsing benchmark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" y="3200400"/>
            <a:ext cx="3118104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" y="3346704"/>
            <a:ext cx="311810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not scanning — they are reading, comparing, and revisiting. This is decision-stage depth, not top-of-funnel curiosity.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97680" y="1572768"/>
            <a:ext cx="3520440" cy="3090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97680" y="1572768"/>
            <a:ext cx="35204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8848" y="1737360"/>
            <a:ext cx="31181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4400" dirty="0"/>
          </a:p>
        </p:txBody>
      </p:sp>
      <p:sp>
        <p:nvSpPr>
          <p:cNvPr id="36" name="Text 34"/>
          <p:cNvSpPr/>
          <p:nvPr/>
        </p:nvSpPr>
        <p:spPr>
          <a:xfrm>
            <a:off x="4498848" y="250545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498848" y="28072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comparison &amp; pricing modules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498848" y="3200400"/>
            <a:ext cx="3118104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98848" y="3346704"/>
            <a:ext cx="311810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modules with highest engagement are side-by-side comparison and on-road price calculator — both are purchase-decision tools.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1572768"/>
            <a:ext cx="3520440" cy="3090672"/>
          </a:xfrm>
          <a:prstGeom prst="rect">
            <a:avLst/>
          </a:prstGeom>
          <a:solidFill>
            <a:srgbClr val="F8F9FA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92440" y="1572768"/>
            <a:ext cx="352044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93608" y="1737360"/>
            <a:ext cx="31181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</a:t>
            </a:r>
            <a:endParaRPr lang="en-US" sz="4400" dirty="0"/>
          </a:p>
        </p:txBody>
      </p:sp>
      <p:sp>
        <p:nvSpPr>
          <p:cNvPr id="43" name="Text 41"/>
          <p:cNvSpPr/>
          <p:nvPr/>
        </p:nvSpPr>
        <p:spPr>
          <a:xfrm>
            <a:off x="8293608" y="250545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93608" y="28072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EV-specific journeys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293608" y="3200400"/>
            <a:ext cx="3118104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93608" y="3346704"/>
            <a:ext cx="311810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traverse editorial reviews → spec comparisons → pricing → BYC wizard. A structured research sequence, not random browsing.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02920" y="4828032"/>
            <a:ext cx="11155680" cy="1572768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828032"/>
            <a:ext cx="45720" cy="157276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9377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77240" y="51937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on AutoYugg are exhibiting decision-stage behavior — the highest-value segment for OLA's sales team. They arrive pre-qualified.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47472"/>
          </a:xfrm>
          <a:prstGeom prst="rect">
            <a:avLst/>
          </a:prstGeom>
          <a:solidFill>
            <a:srgbClr val="0A2A50"/>
          </a:solidFill>
          <a:ln w="12700">
            <a:solidFill>
              <a:srgbClr val="0A2A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152019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019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Failure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04038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038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Emerges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6057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057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Layer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08076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Solution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760095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0095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912114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114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" kern="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0641330" y="0"/>
            <a:ext cx="1520190" cy="347472"/>
          </a:xfrm>
          <a:prstGeom prst="rect">
            <a:avLst/>
          </a:prstGeom>
          <a:solidFill>
            <a:srgbClr val="1A4878"/>
          </a:solidFill>
          <a:ln w="12700">
            <a:solidFill>
              <a:srgbClr val="1A48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87050" y="310896"/>
            <a:ext cx="142875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41330" y="54864"/>
            <a:ext cx="0" cy="237744"/>
          </a:xfrm>
          <a:prstGeom prst="line">
            <a:avLst/>
          </a:prstGeom>
          <a:noFill/>
          <a:ln w="5080">
            <a:solidFill>
              <a:srgbClr val="1A3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41330" y="0"/>
            <a:ext cx="1520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ASK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D0D3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6675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AutoYugg × OLA Electric  |  Lead Generation Partnership  |  Confidential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064240" y="6675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low-risk pilot. High-intent leads. Early category advantage for OLA.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1280160"/>
            <a:ext cx="11064240" cy="0"/>
          </a:xfrm>
          <a:prstGeom prst="line">
            <a:avLst/>
          </a:prstGeom>
          <a:noFill/>
          <a:ln w="12700">
            <a:solidFill>
              <a:srgbClr val="0033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389888"/>
            <a:ext cx="525780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1389888"/>
            <a:ext cx="525780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1389888"/>
            <a:ext cx="45720" cy="294436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TERMS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85800" y="1901952"/>
            <a:ext cx="470916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06040" y="1975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85800" y="2651760"/>
            <a:ext cx="470916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606040" y="27249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₹300 (performance-linked)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85800" y="3401568"/>
            <a:ext cx="470916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integration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60604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within 7 days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6126480" y="1389888"/>
            <a:ext cx="553212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3D4"/>
            </a:solidFill>
            <a:prstDash val="solid"/>
          </a:ln>
          <a:effectLst>
            <a:outerShdw sx="100000" sy="100000" kx="0" ky="0" algn="bl" rotWithShape="0" blurRad="1016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26480" y="1389888"/>
            <a:ext cx="5532120" cy="54864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6480" y="1389888"/>
            <a:ext cx="45720" cy="294436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MODEL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309360" y="1901952"/>
            <a:ext cx="507492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19751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leads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144000" y="19751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309360" y="2560320"/>
            <a:ext cx="507492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09360" y="2633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(40%)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144000" y="26334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qualified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309360" y="3218688"/>
            <a:ext cx="507492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9360" y="3291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(~10%)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44000" y="3291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vehicle sales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309360" y="3877056"/>
            <a:ext cx="5074920" cy="0"/>
          </a:xfrm>
          <a:prstGeom prst="line">
            <a:avLst/>
          </a:prstGeom>
          <a:noFill/>
          <a:ln w="6350">
            <a:solidFill>
              <a:srgbClr val="E8EA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9360" y="3950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potential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9144000" y="39502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₹50L+ / month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02920" y="4498848"/>
            <a:ext cx="11155680" cy="1115568"/>
          </a:xfrm>
          <a:prstGeom prst="rect">
            <a:avLst/>
          </a:prstGeom>
          <a:solidFill>
            <a:srgbClr val="EBF5FC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2920" y="4498848"/>
            <a:ext cx="45720" cy="1115568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45902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EDGE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4901184"/>
            <a:ext cx="91440" cy="9144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7824" y="48646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First-mover advantage in the discovery layer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85800" y="5248656"/>
            <a:ext cx="91440" cy="9144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77824" y="5212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influence before competition enters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0" y="5724144"/>
            <a:ext cx="12161520" cy="91440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5724144"/>
            <a:ext cx="1143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just a new channel — it is control over where EV purchase decisions are made.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AutoYugg × OLA Electric — Lead Generation Partnership</dc:title>
  <dc:subject>PptxGenJS Presentation</dc:subject>
  <dc:creator>PptxGenJS</dc:creator>
  <cp:lastModifiedBy>PptxGenJS</cp:lastModifiedBy>
  <cp:revision>1</cp:revision>
  <dcterms:created xsi:type="dcterms:W3CDTF">2026-06-12T14:33:35Z</dcterms:created>
  <dcterms:modified xsi:type="dcterms:W3CDTF">2026-06-12T14:33:35Z</dcterms:modified>
</cp:coreProperties>
</file>