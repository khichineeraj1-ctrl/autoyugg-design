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572000" cy="6858000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480560" y="0"/>
            <a:ext cx="91440" cy="6858000"/>
          </a:xfrm>
          <a:prstGeom prst="rect">
            <a:avLst/>
          </a:prstGeom>
          <a:solidFill>
            <a:srgbClr val="1E5FB8"/>
          </a:solidFill>
          <a:ln w="12700">
            <a:solidFill>
              <a:srgbClr val="1E5FB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11480" y="1920240"/>
            <a:ext cx="38404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411480" y="2633472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spc="150" kern="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Intent-First Lead Generation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3035808"/>
            <a:ext cx="3383280" cy="0"/>
          </a:xfrm>
          <a:prstGeom prst="line">
            <a:avLst/>
          </a:prstGeom>
          <a:noFill/>
          <a:ln w="15240">
            <a:solidFill>
              <a:srgbClr val="1E5F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11480" y="3218688"/>
            <a:ext cx="38404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OLA Electric</a:t>
            </a:r>
            <a:endParaRPr lang="en-US" sz="3200" dirty="0"/>
          </a:p>
        </p:txBody>
      </p:sp>
      <p:sp>
        <p:nvSpPr>
          <p:cNvPr id="8" name="Text 6"/>
          <p:cNvSpPr/>
          <p:nvPr/>
        </p:nvSpPr>
        <p:spPr>
          <a:xfrm>
            <a:off x="411480" y="382219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spc="20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Partner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11480" y="6126480"/>
            <a:ext cx="1463040" cy="201168"/>
          </a:xfrm>
          <a:prstGeom prst="rect">
            <a:avLst/>
          </a:prstGeom>
          <a:solidFill>
            <a:srgbClr val="6B1219"/>
          </a:solidFill>
          <a:ln w="12700">
            <a:solidFill>
              <a:srgbClr val="1E5F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6126480"/>
            <a:ext cx="1463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5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650" dirty="0"/>
          </a:p>
        </p:txBody>
      </p:sp>
      <p:sp>
        <p:nvSpPr>
          <p:cNvPr id="11" name="Text 9"/>
          <p:cNvSpPr/>
          <p:nvPr/>
        </p:nvSpPr>
        <p:spPr>
          <a:xfrm>
            <a:off x="4937760" y="1188720"/>
            <a:ext cx="68580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Generation</a:t>
            </a:r>
            <a:endParaRPr lang="en-US" sz="36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Partnership</a:t>
            </a:r>
            <a:endParaRPr lang="en-US" sz="3600" dirty="0"/>
          </a:p>
        </p:txBody>
      </p:sp>
      <p:sp>
        <p:nvSpPr>
          <p:cNvPr id="12" name="Shape 10"/>
          <p:cNvSpPr/>
          <p:nvPr/>
        </p:nvSpPr>
        <p:spPr>
          <a:xfrm>
            <a:off x="4937760" y="2724912"/>
            <a:ext cx="6583680" cy="0"/>
          </a:xfrm>
          <a:prstGeom prst="line">
            <a:avLst/>
          </a:prstGeom>
          <a:noFill/>
          <a:ln w="15240">
            <a:solidFill>
              <a:srgbClr val="8B182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937760" y="2852928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Proposal for OLA Electric — Capturing High-Intent EV Buyers at the Consideration Stage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937760" y="3566160"/>
            <a:ext cx="658368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937760" y="3566160"/>
            <a:ext cx="64008" cy="38404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74920" y="3566160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6400800" y="3566160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Two-Wheeler &amp; Four-Wheeler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4937760" y="4041648"/>
            <a:ext cx="658368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937760" y="4041648"/>
            <a:ext cx="64008" cy="38404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074920" y="4041648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6400800" y="4041648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Intent-Scored Lead Delivery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4937760" y="4517136"/>
            <a:ext cx="6583680" cy="38404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4937760" y="4517136"/>
            <a:ext cx="64008" cy="38404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74920" y="4517136"/>
            <a:ext cx="1280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GEOGRAPHY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6400800" y="4517136"/>
            <a:ext cx="5029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Pan-India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937760" y="6199632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June 2026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9875520" y="6199632"/>
            <a:ext cx="21031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1E5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autoyugg.com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01168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04825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10642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Consideration Is Becoming the New Battleground for EV Market Share.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548640" y="14630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decisions increasingly precede retail engagement.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1828800"/>
            <a:ext cx="11064240" cy="0"/>
          </a:xfrm>
          <a:prstGeom prst="line">
            <a:avLst/>
          </a:prstGeom>
          <a:noFill/>
          <a:ln w="15240">
            <a:solidFill>
              <a:srgbClr val="8B18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02920" y="1901952"/>
            <a:ext cx="3520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How Buyers Decide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02920" y="2231136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is formed well before retail engagement.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297680" y="1901952"/>
            <a:ext cx="3931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What the Data Shows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4297680" y="22311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India's EV 2W market is maturing rapidly.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8503920" y="190195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Why It Matters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8503920" y="2231136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Implications for growth and market share.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069080" y="1828800"/>
            <a:ext cx="0" cy="443484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75320" y="1828800"/>
            <a:ext cx="0" cy="443484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502920" y="2633472"/>
            <a:ext cx="3383280" cy="201168"/>
          </a:xfrm>
          <a:prstGeom prst="rect">
            <a:avLst/>
          </a:prstGeom>
          <a:solidFill>
            <a:srgbClr val="E3F3EA"/>
          </a:solidFill>
          <a:ln w="12700">
            <a:solidFill>
              <a:srgbClr val="8BC4A2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02920" y="2633472"/>
            <a:ext cx="33832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8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PREFERENCE FORMATION ZONE</a:t>
            </a:r>
            <a:endParaRPr lang="en-US" sz="650" dirty="0"/>
          </a:p>
        </p:txBody>
      </p:sp>
      <p:sp>
        <p:nvSpPr>
          <p:cNvPr id="43" name="Shape 41"/>
          <p:cNvSpPr/>
          <p:nvPr/>
        </p:nvSpPr>
        <p:spPr>
          <a:xfrm>
            <a:off x="566928" y="2944368"/>
            <a:ext cx="457200" cy="457200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669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8744"/>
                </a:solidFill>
              </a:rPr>
              <a:t>⊙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1024128" y="3172968"/>
            <a:ext cx="219456" cy="0"/>
          </a:xfrm>
          <a:prstGeom prst="line">
            <a:avLst/>
          </a:prstGeom>
          <a:noFill/>
          <a:ln w="9525">
            <a:solidFill>
              <a:srgbClr val="E9EBE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493776" y="3456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750" dirty="0"/>
          </a:p>
        </p:txBody>
      </p:sp>
      <p:sp>
        <p:nvSpPr>
          <p:cNvPr id="47" name="Shape 45"/>
          <p:cNvSpPr/>
          <p:nvPr/>
        </p:nvSpPr>
        <p:spPr>
          <a:xfrm>
            <a:off x="1252728" y="2944368"/>
            <a:ext cx="457200" cy="457200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12527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8744"/>
                </a:solidFill>
              </a:rPr>
              <a:t>≡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709928" y="3172968"/>
            <a:ext cx="219456" cy="0"/>
          </a:xfrm>
          <a:prstGeom prst="line">
            <a:avLst/>
          </a:prstGeom>
          <a:noFill/>
          <a:ln w="9525">
            <a:solidFill>
              <a:srgbClr val="E9EB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79576" y="3456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</a:t>
            </a:r>
            <a:endParaRPr lang="en-US" sz="750" dirty="0"/>
          </a:p>
        </p:txBody>
      </p:sp>
      <p:sp>
        <p:nvSpPr>
          <p:cNvPr id="51" name="Shape 49"/>
          <p:cNvSpPr/>
          <p:nvPr/>
        </p:nvSpPr>
        <p:spPr>
          <a:xfrm>
            <a:off x="1938528" y="2944368"/>
            <a:ext cx="457200" cy="457200"/>
          </a:xfrm>
          <a:prstGeom prst="ellipse">
            <a:avLst/>
          </a:prstGeom>
          <a:solidFill>
            <a:srgbClr val="E3F3EA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19385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1A8744"/>
                </a:solidFill>
              </a:rPr>
              <a:t>✓</a:t>
            </a:r>
            <a:endParaRPr lang="en-US" sz="1100" dirty="0"/>
          </a:p>
        </p:txBody>
      </p:sp>
      <p:sp>
        <p:nvSpPr>
          <p:cNvPr id="53" name="Shape 51"/>
          <p:cNvSpPr/>
          <p:nvPr/>
        </p:nvSpPr>
        <p:spPr>
          <a:xfrm>
            <a:off x="2395728" y="3172968"/>
            <a:ext cx="219456" cy="0"/>
          </a:xfrm>
          <a:prstGeom prst="line">
            <a:avLst/>
          </a:prstGeom>
          <a:noFill/>
          <a:ln w="9525">
            <a:solidFill>
              <a:srgbClr val="E9EBEE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865376" y="3456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1A8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</a:t>
            </a:r>
            <a:endParaRPr lang="en-US" sz="750" dirty="0"/>
          </a:p>
        </p:txBody>
      </p:sp>
      <p:sp>
        <p:nvSpPr>
          <p:cNvPr id="55" name="Shape 53"/>
          <p:cNvSpPr/>
          <p:nvPr/>
        </p:nvSpPr>
        <p:spPr>
          <a:xfrm>
            <a:off x="2624328" y="2944368"/>
            <a:ext cx="457200" cy="45720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26243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49C"/>
                </a:solidFill>
              </a:rPr>
              <a:t>☰</a:t>
            </a:r>
            <a:endParaRPr lang="en-US" sz="1100" dirty="0"/>
          </a:p>
        </p:txBody>
      </p:sp>
      <p:sp>
        <p:nvSpPr>
          <p:cNvPr id="57" name="Shape 55"/>
          <p:cNvSpPr/>
          <p:nvPr/>
        </p:nvSpPr>
        <p:spPr>
          <a:xfrm>
            <a:off x="3081528" y="3172968"/>
            <a:ext cx="219456" cy="0"/>
          </a:xfrm>
          <a:prstGeom prst="line">
            <a:avLst/>
          </a:prstGeom>
          <a:noFill/>
          <a:ln w="9525">
            <a:solidFill>
              <a:srgbClr val="E9EBEE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51176" y="3456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</a:t>
            </a:r>
            <a:endParaRPr lang="en-US" sz="750" dirty="0"/>
          </a:p>
        </p:txBody>
      </p:sp>
      <p:sp>
        <p:nvSpPr>
          <p:cNvPr id="59" name="Shape 57"/>
          <p:cNvSpPr/>
          <p:nvPr/>
        </p:nvSpPr>
        <p:spPr>
          <a:xfrm>
            <a:off x="3310128" y="2944368"/>
            <a:ext cx="457200" cy="457200"/>
          </a:xfrm>
          <a:prstGeom prst="ellipse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310128" y="2944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949C"/>
                </a:solidFill>
              </a:rPr>
              <a:t>→</a:t>
            </a:r>
            <a:endParaRPr lang="en-US" sz="1100" dirty="0"/>
          </a:p>
        </p:txBody>
      </p:sp>
      <p:sp>
        <p:nvSpPr>
          <p:cNvPr id="61" name="Text 59"/>
          <p:cNvSpPr/>
          <p:nvPr/>
        </p:nvSpPr>
        <p:spPr>
          <a:xfrm>
            <a:off x="3236976" y="3456432"/>
            <a:ext cx="603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</a:t>
            </a:r>
            <a:endParaRPr lang="en-US" sz="750" dirty="0"/>
          </a:p>
        </p:txBody>
      </p:sp>
      <p:sp>
        <p:nvSpPr>
          <p:cNvPr id="62" name="Shape 60"/>
          <p:cNvSpPr/>
          <p:nvPr/>
        </p:nvSpPr>
        <p:spPr>
          <a:xfrm>
            <a:off x="4297680" y="2578608"/>
            <a:ext cx="1828800" cy="93268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63" name="Shape 61"/>
          <p:cNvSpPr/>
          <p:nvPr/>
        </p:nvSpPr>
        <p:spPr>
          <a:xfrm>
            <a:off x="4297680" y="2578608"/>
            <a:ext cx="182880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407408" y="267004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1.4M+</a:t>
            </a:r>
            <a:endParaRPr lang="en-US" sz="2400" dirty="0"/>
          </a:p>
        </p:txBody>
      </p:sp>
      <p:sp>
        <p:nvSpPr>
          <p:cNvPr id="65" name="Text 63"/>
          <p:cNvSpPr/>
          <p:nvPr/>
        </p:nvSpPr>
        <p:spPr>
          <a:xfrm>
            <a:off x="4407408" y="312724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EV 2W sales</a:t>
            </a:r>
            <a:endParaRPr lang="en-US" sz="800" dirty="0"/>
          </a:p>
        </p:txBody>
      </p:sp>
      <p:sp>
        <p:nvSpPr>
          <p:cNvPr id="66" name="Shape 64"/>
          <p:cNvSpPr/>
          <p:nvPr/>
        </p:nvSpPr>
        <p:spPr>
          <a:xfrm>
            <a:off x="6355080" y="2578608"/>
            <a:ext cx="1828800" cy="93268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6355080" y="2578608"/>
            <a:ext cx="182880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6464808" y="2670048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7%</a:t>
            </a:r>
            <a:endParaRPr lang="en-US" sz="2400" dirty="0"/>
          </a:p>
        </p:txBody>
      </p:sp>
      <p:sp>
        <p:nvSpPr>
          <p:cNvPr id="69" name="Text 67"/>
          <p:cNvSpPr/>
          <p:nvPr/>
        </p:nvSpPr>
        <p:spPr>
          <a:xfrm>
            <a:off x="6464808" y="312724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 penetration of total 2W sales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4297680" y="3749040"/>
            <a:ext cx="1828800" cy="93268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4297680" y="3749040"/>
            <a:ext cx="182880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4407408" y="38404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 10</a:t>
            </a:r>
            <a:endParaRPr lang="en-US" sz="1800" dirty="0"/>
          </a:p>
        </p:txBody>
      </p:sp>
      <p:sp>
        <p:nvSpPr>
          <p:cNvPr id="73" name="Text 71"/>
          <p:cNvSpPr/>
          <p:nvPr/>
        </p:nvSpPr>
        <p:spPr>
          <a:xfrm>
            <a:off x="4407408" y="429768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research online before retail engagement</a:t>
            </a:r>
            <a:endParaRPr lang="en-US" sz="800" dirty="0"/>
          </a:p>
        </p:txBody>
      </p:sp>
      <p:sp>
        <p:nvSpPr>
          <p:cNvPr id="74" name="Shape 72"/>
          <p:cNvSpPr/>
          <p:nvPr/>
        </p:nvSpPr>
        <p:spPr>
          <a:xfrm>
            <a:off x="6355080" y="3749040"/>
            <a:ext cx="1828800" cy="93268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75" name="Shape 73"/>
          <p:cNvSpPr/>
          <p:nvPr/>
        </p:nvSpPr>
        <p:spPr>
          <a:xfrm>
            <a:off x="6355080" y="3749040"/>
            <a:ext cx="182880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6464808" y="3840480"/>
            <a:ext cx="16093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62%</a:t>
            </a:r>
            <a:endParaRPr lang="en-US" sz="2400" dirty="0"/>
          </a:p>
        </p:txBody>
      </p:sp>
      <p:sp>
        <p:nvSpPr>
          <p:cNvPr id="77" name="Text 75"/>
          <p:cNvSpPr/>
          <p:nvPr/>
        </p:nvSpPr>
        <p:spPr>
          <a:xfrm>
            <a:off x="6464808" y="4297680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8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share — top 3 players</a:t>
            </a:r>
            <a:endParaRPr lang="en-US" sz="800" dirty="0"/>
          </a:p>
        </p:txBody>
      </p:sp>
      <p:sp>
        <p:nvSpPr>
          <p:cNvPr id="78" name="Shape 76"/>
          <p:cNvSpPr/>
          <p:nvPr/>
        </p:nvSpPr>
        <p:spPr>
          <a:xfrm>
            <a:off x="4297680" y="4773168"/>
            <a:ext cx="3749040" cy="658368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4297680" y="4773168"/>
            <a:ext cx="45720" cy="65836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4434840" y="4773168"/>
            <a:ext cx="35204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5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marketing investments remain optimized around lead generation, not preference creation.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8503920" y="2578608"/>
            <a:ext cx="33375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82" name="Shape 80"/>
          <p:cNvSpPr/>
          <p:nvPr/>
        </p:nvSpPr>
        <p:spPr>
          <a:xfrm>
            <a:off x="8631936" y="2743200"/>
            <a:ext cx="274320" cy="274320"/>
          </a:xfrm>
          <a:prstGeom prst="ellipse">
            <a:avLst/>
          </a:prstGeom>
          <a:solidFill>
            <a:srgbClr val="1A8744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8631936" y="2743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4" name="Text 82"/>
          <p:cNvSpPr/>
          <p:nvPr/>
        </p:nvSpPr>
        <p:spPr>
          <a:xfrm>
            <a:off x="8997696" y="2670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engagement begins later</a:t>
            </a:r>
            <a:endParaRPr lang="en-US" sz="1100" dirty="0"/>
          </a:p>
        </p:txBody>
      </p:sp>
      <p:sp>
        <p:nvSpPr>
          <p:cNvPr id="85" name="Text 83"/>
          <p:cNvSpPr/>
          <p:nvPr/>
        </p:nvSpPr>
        <p:spPr>
          <a:xfrm>
            <a:off x="8997696" y="30175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decision is largely made before the showroom visit.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8503920" y="3493008"/>
            <a:ext cx="33375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8631936" y="3657600"/>
            <a:ext cx="274320" cy="274320"/>
          </a:xfrm>
          <a:prstGeom prst="ellipse">
            <a:avLst/>
          </a:prstGeom>
          <a:solidFill>
            <a:srgbClr val="1A8744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8631936" y="36576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8997696" y="35844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volume ≠ market share</a:t>
            </a:r>
            <a:endParaRPr lang="en-US" sz="1100" dirty="0"/>
          </a:p>
        </p:txBody>
      </p:sp>
      <p:sp>
        <p:nvSpPr>
          <p:cNvPr id="90" name="Text 88"/>
          <p:cNvSpPr/>
          <p:nvPr/>
        </p:nvSpPr>
        <p:spPr>
          <a:xfrm>
            <a:off x="8997696" y="39319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 metrics mask pre-retail preference gaps.</a:t>
            </a:r>
            <a:endParaRPr lang="en-US" sz="850" dirty="0"/>
          </a:p>
        </p:txBody>
      </p:sp>
      <p:sp>
        <p:nvSpPr>
          <p:cNvPr id="91" name="Shape 89"/>
          <p:cNvSpPr/>
          <p:nvPr/>
        </p:nvSpPr>
        <p:spPr>
          <a:xfrm>
            <a:off x="8503920" y="4407408"/>
            <a:ext cx="333756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8631936" y="4572000"/>
            <a:ext cx="274320" cy="274320"/>
          </a:xfrm>
          <a:prstGeom prst="ellipse">
            <a:avLst/>
          </a:prstGeom>
          <a:solidFill>
            <a:srgbClr val="1A8744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8631936" y="45720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8997696" y="44988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Earlier influence improves conversion efficiency</a:t>
            </a:r>
            <a:endParaRPr lang="en-US" sz="1100" dirty="0"/>
          </a:p>
        </p:txBody>
      </p:sp>
      <p:sp>
        <p:nvSpPr>
          <p:cNvPr id="95" name="Text 93"/>
          <p:cNvSpPr/>
          <p:nvPr/>
        </p:nvSpPr>
        <p:spPr>
          <a:xfrm>
            <a:off x="8997696" y="484632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Capturing buyers at discovery stage cuts CAC materially.</a:t>
            </a:r>
            <a:endParaRPr lang="en-US" sz="850" dirty="0"/>
          </a:p>
        </p:txBody>
      </p:sp>
      <p:sp>
        <p:nvSpPr>
          <p:cNvPr id="96" name="Shape 94"/>
          <p:cNvSpPr/>
          <p:nvPr/>
        </p:nvSpPr>
        <p:spPr>
          <a:xfrm>
            <a:off x="0" y="6016752"/>
            <a:ext cx="12161520" cy="62179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548640" y="6016752"/>
            <a:ext cx="10972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in 10</a:t>
            </a:r>
            <a:endParaRPr lang="en-US" sz="1800" dirty="0"/>
          </a:p>
        </p:txBody>
      </p:sp>
      <p:sp>
        <p:nvSpPr>
          <p:cNvPr id="98" name="Text 96"/>
          <p:cNvSpPr/>
          <p:nvPr/>
        </p:nvSpPr>
        <p:spPr>
          <a:xfrm>
            <a:off x="1691640" y="6016752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research before retail engagement.</a:t>
            </a:r>
            <a:endParaRPr lang="en-US" sz="1300" dirty="0"/>
          </a:p>
        </p:txBody>
      </p:sp>
      <p:sp>
        <p:nvSpPr>
          <p:cNvPr id="99" name="Text 97"/>
          <p:cNvSpPr/>
          <p:nvPr/>
        </p:nvSpPr>
        <p:spPr>
          <a:xfrm>
            <a:off x="8412480" y="6016752"/>
            <a:ext cx="35661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Vahan, JMK Research, BCG EV Consumer Survey.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7601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FUNNEL FAILURE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1064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EV Buyers Decide Before the Lead Form.</a:t>
            </a:r>
            <a:endParaRPr lang="en-US" sz="28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28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Funnel Has No Signal for This.</a:t>
            </a:r>
            <a:endParaRPr lang="en-US" sz="2800" dirty="0"/>
          </a:p>
        </p:txBody>
      </p:sp>
      <p:sp>
        <p:nvSpPr>
          <p:cNvPr id="31" name="Text 29"/>
          <p:cNvSpPr/>
          <p:nvPr/>
        </p:nvSpPr>
        <p:spPr>
          <a:xfrm>
            <a:off x="548640" y="1755648"/>
            <a:ext cx="9601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systems maximize volume, not purchase intent — and the data shows the cost.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548640" y="2103120"/>
            <a:ext cx="11064240" cy="0"/>
          </a:xfrm>
          <a:prstGeom prst="line">
            <a:avLst/>
          </a:prstGeom>
          <a:noFill/>
          <a:ln w="12700">
            <a:solidFill>
              <a:srgbClr val="8B1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2212848"/>
            <a:ext cx="3520440" cy="24231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02920" y="2212848"/>
            <a:ext cx="35204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04088" y="237744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704088" y="312724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leads lack actionable purchase signals</a:t>
            </a:r>
            <a:endParaRPr lang="en-US" sz="1150" dirty="0"/>
          </a:p>
        </p:txBody>
      </p:sp>
      <p:sp>
        <p:nvSpPr>
          <p:cNvPr id="37" name="Shape 35"/>
          <p:cNvSpPr/>
          <p:nvPr/>
        </p:nvSpPr>
        <p:spPr>
          <a:xfrm>
            <a:off x="704088" y="3602736"/>
            <a:ext cx="3118104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" y="3749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budget confirmation. No urgency. No model preference. Just a name and a phone number.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297680" y="2212848"/>
            <a:ext cx="3520440" cy="242316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97680" y="2212848"/>
            <a:ext cx="3520440" cy="54864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237744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bounce</a:t>
            </a:r>
            <a:endParaRPr lang="en-US" sz="3000" dirty="0"/>
          </a:p>
        </p:txBody>
      </p:sp>
      <p:sp>
        <p:nvSpPr>
          <p:cNvPr id="42" name="Text 40"/>
          <p:cNvSpPr/>
          <p:nvPr/>
        </p:nvSpPr>
        <p:spPr>
          <a:xfrm>
            <a:off x="4498848" y="312724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ad-driven platforms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4498848" y="3602736"/>
            <a:ext cx="3118104" cy="0"/>
          </a:xfrm>
          <a:prstGeom prst="line">
            <a:avLst/>
          </a:prstGeom>
          <a:noFill/>
          <a:ln w="6350">
            <a:solidFill>
              <a:srgbClr val="3D0A0E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498848" y="3749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B8C8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Low-engagement cohorts drive inflated traffic numbers that hide fundamental lead quality problems.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8092440" y="2212848"/>
            <a:ext cx="3520440" cy="24231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8092440" y="2212848"/>
            <a:ext cx="35204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8293608" y="2377440"/>
            <a:ext cx="3118104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30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effort</a:t>
            </a:r>
            <a:endParaRPr lang="en-US" sz="3000" dirty="0"/>
          </a:p>
        </p:txBody>
      </p:sp>
      <p:sp>
        <p:nvSpPr>
          <p:cNvPr id="48" name="Text 46"/>
          <p:cNvSpPr/>
          <p:nvPr/>
        </p:nvSpPr>
        <p:spPr>
          <a:xfrm>
            <a:off x="8293608" y="3127248"/>
            <a:ext cx="311810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filtering, not selling</a:t>
            </a:r>
            <a:endParaRPr lang="en-US" sz="1150" dirty="0"/>
          </a:p>
        </p:txBody>
      </p:sp>
      <p:sp>
        <p:nvSpPr>
          <p:cNvPr id="49" name="Shape 47"/>
          <p:cNvSpPr/>
          <p:nvPr/>
        </p:nvSpPr>
        <p:spPr>
          <a:xfrm>
            <a:off x="8293608" y="3602736"/>
            <a:ext cx="3118104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293608" y="3749040"/>
            <a:ext cx="311810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Sales teams spend disproportionate time qualifying leads that should never have been passed.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502920" y="4791456"/>
            <a:ext cx="11155680" cy="173736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777240" y="4901184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IMPACT</a:t>
            </a:r>
            <a:endParaRPr lang="en-US" sz="750" dirty="0"/>
          </a:p>
        </p:txBody>
      </p:sp>
      <p:sp>
        <p:nvSpPr>
          <p:cNvPr id="53" name="Shape 51"/>
          <p:cNvSpPr/>
          <p:nvPr/>
        </p:nvSpPr>
        <p:spPr>
          <a:xfrm>
            <a:off x="777240" y="5230368"/>
            <a:ext cx="3291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777240" y="5230368"/>
            <a:ext cx="32918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941832" y="5303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</a:t>
            </a:r>
            <a:endParaRPr lang="en-US" sz="2000" dirty="0"/>
          </a:p>
        </p:txBody>
      </p:sp>
      <p:sp>
        <p:nvSpPr>
          <p:cNvPr id="56" name="Text 54"/>
          <p:cNvSpPr/>
          <p:nvPr/>
        </p:nvSpPr>
        <p:spPr>
          <a:xfrm>
            <a:off x="1435608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Inflated CAC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4343400" y="5230368"/>
            <a:ext cx="3291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343400" y="5230368"/>
            <a:ext cx="32918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507992" y="5303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2000" dirty="0"/>
          </a:p>
        </p:txBody>
      </p:sp>
      <p:sp>
        <p:nvSpPr>
          <p:cNvPr id="60" name="Text 58"/>
          <p:cNvSpPr/>
          <p:nvPr/>
        </p:nvSpPr>
        <p:spPr>
          <a:xfrm>
            <a:off x="5001768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conversion rates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7909560" y="5230368"/>
            <a:ext cx="3291840" cy="98755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7909560" y="5230368"/>
            <a:ext cx="32918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074152" y="5303520"/>
            <a:ext cx="411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⟳</a:t>
            </a:r>
            <a:endParaRPr lang="en-US" sz="2000" dirty="0"/>
          </a:p>
        </p:txBody>
      </p:sp>
      <p:sp>
        <p:nvSpPr>
          <p:cNvPr id="64" name="Text 62"/>
          <p:cNvSpPr/>
          <p:nvPr/>
        </p:nvSpPr>
        <p:spPr>
          <a:xfrm>
            <a:off x="8567928" y="5303520"/>
            <a:ext cx="2468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Slower sales cycles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26720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0377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INTENT ACTUALLY EMERGES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09728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highest-intent moment occurs</a:t>
            </a:r>
            <a:endParaRPr lang="en-US" sz="3200" dirty="0"/>
          </a:p>
          <a:p>
            <a:pPr indent="0" marL="0">
              <a:lnSpc>
                <a:spcPct val="112000"/>
              </a:lnSpc>
              <a:buNone/>
            </a:pPr>
            <a:r>
              <a:rPr lang="en-US" sz="3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during comparison — not form fill.</a:t>
            </a:r>
            <a:endParaRPr lang="en-US" sz="3200" dirty="0"/>
          </a:p>
        </p:txBody>
      </p:sp>
      <p:sp>
        <p:nvSpPr>
          <p:cNvPr id="31" name="Shape 29"/>
          <p:cNvSpPr/>
          <p:nvPr/>
        </p:nvSpPr>
        <p:spPr>
          <a:xfrm>
            <a:off x="548640" y="2176272"/>
            <a:ext cx="11064240" cy="0"/>
          </a:xfrm>
          <a:prstGeom prst="line">
            <a:avLst/>
          </a:prstGeom>
          <a:noFill/>
          <a:ln w="12700">
            <a:solidFill>
              <a:srgbClr val="8B18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23408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1A8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USERS EVALUATE AT THIS STAGE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" y="2697480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2697480"/>
            <a:ext cx="45720" cy="1261872"/>
          </a:xfrm>
          <a:prstGeom prst="rect">
            <a:avLst/>
          </a:prstGeom>
          <a:solidFill>
            <a:srgbClr val="1A8744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749808" y="2862072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vs alternatives</a:t>
            </a:r>
            <a:endParaRPr lang="en-US" sz="1350" dirty="0"/>
          </a:p>
        </p:txBody>
      </p:sp>
      <p:sp>
        <p:nvSpPr>
          <p:cNvPr id="36" name="Text 34"/>
          <p:cNvSpPr/>
          <p:nvPr/>
        </p:nvSpPr>
        <p:spPr>
          <a:xfrm>
            <a:off x="749808" y="3264408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Side-by-side comparison of OLA S1 Pro against Ather 450X, TVS iQube. Real purchase consideration — not early awareness browsing.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48640" y="4142232"/>
            <a:ext cx="5303520" cy="126187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548640" y="4142232"/>
            <a:ext cx="45720" cy="1261872"/>
          </a:xfrm>
          <a:prstGeom prst="rect">
            <a:avLst/>
          </a:prstGeom>
          <a:solidFill>
            <a:srgbClr val="1A8744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749808" y="4306824"/>
            <a:ext cx="4937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Range, performance, use-case fit</a:t>
            </a:r>
            <a:endParaRPr lang="en-US" sz="1350" dirty="0"/>
          </a:p>
        </p:txBody>
      </p:sp>
      <p:sp>
        <p:nvSpPr>
          <p:cNvPr id="40" name="Text 38"/>
          <p:cNvSpPr/>
          <p:nvPr/>
        </p:nvSpPr>
        <p:spPr>
          <a:xfrm>
            <a:off x="749808" y="4709160"/>
            <a:ext cx="4937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commute vs weekend riding. Buyers are matching specs to their actual life. This reflects true purchase intent.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263640" y="2240280"/>
            <a:ext cx="0" cy="4041648"/>
          </a:xfrm>
          <a:prstGeom prst="line">
            <a:avLst/>
          </a:prstGeom>
          <a:noFill/>
          <a:ln w="9525">
            <a:solidFill>
              <a:srgbClr val="E9EBE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492240" y="2340864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STRUCTURAL GAP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6492240" y="2697480"/>
            <a:ext cx="5303520" cy="324612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675120" y="2944368"/>
            <a:ext cx="49377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system today captures and qualifies users at this decision stage.</a:t>
            </a:r>
            <a:endParaRPr lang="en-US" sz="2300" dirty="0"/>
          </a:p>
        </p:txBody>
      </p:sp>
      <p:sp>
        <p:nvSpPr>
          <p:cNvPr id="45" name="Shape 43"/>
          <p:cNvSpPr/>
          <p:nvPr/>
        </p:nvSpPr>
        <p:spPr>
          <a:xfrm>
            <a:off x="6675120" y="4645152"/>
            <a:ext cx="4937760" cy="0"/>
          </a:xfrm>
          <a:prstGeom prst="line">
            <a:avLst/>
          </a:prstGeom>
          <a:noFill/>
          <a:ln w="6350">
            <a:solidFill>
              <a:srgbClr val="3D0A0E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6675120" y="4773168"/>
            <a:ext cx="4937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0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forms, search ads, and portal listings all activate after this window — capturing users post-decision with no intent data.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39496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43153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MARKET LAYER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0515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 funnel is broken at the point of maximum intent.</a:t>
            </a:r>
            <a:endParaRPr lang="en-US" sz="2600" dirty="0"/>
          </a:p>
        </p:txBody>
      </p:sp>
      <p:sp>
        <p:nvSpPr>
          <p:cNvPr id="31" name="Shape 29"/>
          <p:cNvSpPr/>
          <p:nvPr/>
        </p:nvSpPr>
        <p:spPr>
          <a:xfrm>
            <a:off x="502920" y="1572768"/>
            <a:ext cx="2651760" cy="459028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1572768"/>
            <a:ext cx="265176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85800" y="1719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</a:t>
            </a:r>
            <a:endParaRPr lang="en-US" sz="1700" dirty="0"/>
          </a:p>
        </p:txBody>
      </p:sp>
      <p:sp>
        <p:nvSpPr>
          <p:cNvPr id="34" name="Shape 32"/>
          <p:cNvSpPr/>
          <p:nvPr/>
        </p:nvSpPr>
        <p:spPr>
          <a:xfrm>
            <a:off x="685800" y="2286000"/>
            <a:ext cx="2286000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discovery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85800" y="2688336"/>
            <a:ext cx="228600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2798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85800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conversion layer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685800" y="3511296"/>
            <a:ext cx="228600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363016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 Reels and YouTube reviews create awareness but no mechanism exists to capture or qualify the interest generated.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3337560" y="1572768"/>
            <a:ext cx="2651760" cy="459028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3337560" y="1572768"/>
            <a:ext cx="265176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20440" y="1719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</a:t>
            </a:r>
            <a:endParaRPr lang="en-US" sz="1700" dirty="0"/>
          </a:p>
        </p:txBody>
      </p:sp>
      <p:sp>
        <p:nvSpPr>
          <p:cNvPr id="44" name="Shape 42"/>
          <p:cNvSpPr/>
          <p:nvPr/>
        </p:nvSpPr>
        <p:spPr>
          <a:xfrm>
            <a:off x="3520440" y="2286000"/>
            <a:ext cx="2286000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2044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Late-stage intent only</a:t>
            </a:r>
            <a:endParaRPr lang="en-US" sz="750" dirty="0"/>
          </a:p>
        </p:txBody>
      </p:sp>
      <p:sp>
        <p:nvSpPr>
          <p:cNvPr id="46" name="Shape 44"/>
          <p:cNvSpPr/>
          <p:nvPr/>
        </p:nvSpPr>
        <p:spPr>
          <a:xfrm>
            <a:off x="3520440" y="2688336"/>
            <a:ext cx="228600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520440" y="2798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50" dirty="0"/>
          </a:p>
        </p:txBody>
      </p:sp>
      <p:sp>
        <p:nvSpPr>
          <p:cNvPr id="48" name="Text 46"/>
          <p:cNvSpPr/>
          <p:nvPr/>
        </p:nvSpPr>
        <p:spPr>
          <a:xfrm>
            <a:off x="3520440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cost, low context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3520440" y="3511296"/>
            <a:ext cx="228600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520440" y="363016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Captures users who already know the model. Expensive. No behavioral context. No qualification at the point of click.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172200" y="1572768"/>
            <a:ext cx="2651760" cy="4590288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6172200" y="1572768"/>
            <a:ext cx="265176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55080" y="1719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 portals</a:t>
            </a:r>
            <a:endParaRPr lang="en-US" sz="1700" dirty="0"/>
          </a:p>
        </p:txBody>
      </p:sp>
      <p:sp>
        <p:nvSpPr>
          <p:cNvPr id="54" name="Shape 52"/>
          <p:cNvSpPr/>
          <p:nvPr/>
        </p:nvSpPr>
        <p:spPr>
          <a:xfrm>
            <a:off x="6355080" y="2286000"/>
            <a:ext cx="2286000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635508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Inventory listing</a:t>
            </a:r>
            <a:endParaRPr lang="en-US" sz="750" dirty="0"/>
          </a:p>
        </p:txBody>
      </p:sp>
      <p:sp>
        <p:nvSpPr>
          <p:cNvPr id="56" name="Shape 54"/>
          <p:cNvSpPr/>
          <p:nvPr/>
        </p:nvSpPr>
        <p:spPr>
          <a:xfrm>
            <a:off x="6355080" y="2688336"/>
            <a:ext cx="228600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6355080" y="2798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50" dirty="0"/>
          </a:p>
        </p:txBody>
      </p:sp>
      <p:sp>
        <p:nvSpPr>
          <p:cNvPr id="58" name="Text 56"/>
          <p:cNvSpPr/>
          <p:nvPr/>
        </p:nvSpPr>
        <p:spPr>
          <a:xfrm>
            <a:off x="6355080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decision guidance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355080" y="3511296"/>
            <a:ext cx="228600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355080" y="363016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BikeDekho, ZigWheels list models. They don't guide decisions. Users compare and leave — no intent captured.</a:t>
            </a:r>
            <a:endParaRPr lang="en-US" sz="1000" dirty="0"/>
          </a:p>
        </p:txBody>
      </p:sp>
      <p:sp>
        <p:nvSpPr>
          <p:cNvPr id="61" name="Shape 59"/>
          <p:cNvSpPr/>
          <p:nvPr/>
        </p:nvSpPr>
        <p:spPr>
          <a:xfrm>
            <a:off x="9006840" y="1572768"/>
            <a:ext cx="2651760" cy="459028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62" name="Shape 60"/>
          <p:cNvSpPr/>
          <p:nvPr/>
        </p:nvSpPr>
        <p:spPr>
          <a:xfrm>
            <a:off x="9006840" y="1572768"/>
            <a:ext cx="2651760" cy="54864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9189720" y="1719072"/>
            <a:ext cx="2286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1700" dirty="0"/>
          </a:p>
        </p:txBody>
      </p:sp>
      <p:sp>
        <p:nvSpPr>
          <p:cNvPr id="64" name="Shape 62"/>
          <p:cNvSpPr/>
          <p:nvPr/>
        </p:nvSpPr>
        <p:spPr>
          <a:xfrm>
            <a:off x="9189720" y="2286000"/>
            <a:ext cx="2286000" cy="237744"/>
          </a:xfrm>
          <a:prstGeom prst="rect">
            <a:avLst/>
          </a:prstGeom>
          <a:solidFill>
            <a:srgbClr val="0A2A50"/>
          </a:solidFill>
          <a:ln w="12700">
            <a:solidFill>
              <a:srgbClr val="3D0A0E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9189720" y="2286000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+ decision + qualification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9189720" y="2688336"/>
            <a:ext cx="2286000" cy="0"/>
          </a:xfrm>
          <a:prstGeom prst="line">
            <a:avLst/>
          </a:prstGeom>
          <a:noFill/>
          <a:ln w="6350">
            <a:solidFill>
              <a:srgbClr val="3D0A0E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9189720" y="2798064"/>
            <a:ext cx="22860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Gap:</a:t>
            </a:r>
            <a:endParaRPr lang="en-US" sz="850" dirty="0"/>
          </a:p>
        </p:txBody>
      </p:sp>
      <p:sp>
        <p:nvSpPr>
          <p:cNvPr id="68" name="Text 66"/>
          <p:cNvSpPr/>
          <p:nvPr/>
        </p:nvSpPr>
        <p:spPr>
          <a:xfrm>
            <a:off x="9189720" y="3072384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exist yet</a:t>
            </a:r>
            <a:endParaRPr lang="en-US" sz="1200" dirty="0"/>
          </a:p>
        </p:txBody>
      </p:sp>
      <p:sp>
        <p:nvSpPr>
          <p:cNvPr id="69" name="Shape 67"/>
          <p:cNvSpPr/>
          <p:nvPr/>
        </p:nvSpPr>
        <p:spPr>
          <a:xfrm>
            <a:off x="9189720" y="3511296"/>
            <a:ext cx="2286000" cy="0"/>
          </a:xfrm>
          <a:prstGeom prst="line">
            <a:avLst/>
          </a:prstGeom>
          <a:noFill/>
          <a:ln w="6350">
            <a:solidFill>
              <a:srgbClr val="3D0A0E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9189720" y="3630168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platform integrating content discovery, structured comparison, and behavioral intent scoring into a single buyer journey.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52272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55929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1064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0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proprietary modules no other Indian EV platform offers — built to own the decision layer.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502920" y="1389888"/>
            <a:ext cx="40690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502920" y="1389888"/>
            <a:ext cx="4069080" cy="54864"/>
          </a:xfrm>
          <a:prstGeom prst="rect">
            <a:avLst/>
          </a:prstGeom>
          <a:solidFill>
            <a:srgbClr val="1A8744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02920" y="1389888"/>
            <a:ext cx="45720" cy="1316736"/>
          </a:xfrm>
          <a:prstGeom prst="rect">
            <a:avLst/>
          </a:prstGeom>
          <a:solidFill>
            <a:srgbClr val="1A8744"/>
          </a:solidFill>
          <a:ln w="12700">
            <a:solidFill>
              <a:srgbClr val="1A8744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58368" y="155448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A8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1133856" y="1563624"/>
            <a:ext cx="1920240" cy="219456"/>
          </a:xfrm>
          <a:prstGeom prst="rect">
            <a:avLst/>
          </a:prstGeom>
          <a:solidFill>
            <a:srgbClr val="E3F3EA"/>
          </a:solidFill>
          <a:ln w="12700">
            <a:solidFill>
              <a:srgbClr val="8BC4A2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133856" y="156362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A87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 LAYER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658368" y="190195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&amp; entry points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02920" y="2852928"/>
            <a:ext cx="40690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02920" y="2852928"/>
            <a:ext cx="4069080" cy="54864"/>
          </a:xfrm>
          <a:prstGeom prst="rect">
            <a:avLst/>
          </a:prstGeom>
          <a:solidFill>
            <a:srgbClr val="1E5FB8"/>
          </a:solidFill>
          <a:ln w="12700">
            <a:solidFill>
              <a:srgbClr val="1E5F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502920" y="2852928"/>
            <a:ext cx="45720" cy="1316736"/>
          </a:xfrm>
          <a:prstGeom prst="rect">
            <a:avLst/>
          </a:prstGeom>
          <a:solidFill>
            <a:srgbClr val="1E5FB8"/>
          </a:solidFill>
          <a:ln w="12700">
            <a:solidFill>
              <a:srgbClr val="1E5FB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58368" y="301752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5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1133856" y="3026664"/>
            <a:ext cx="1920240" cy="219456"/>
          </a:xfrm>
          <a:prstGeom prst="rect">
            <a:avLst/>
          </a:prstGeom>
          <a:solidFill>
            <a:srgbClr val="E3EDF9"/>
          </a:solidFill>
          <a:ln w="12700">
            <a:solidFill>
              <a:srgbClr val="8AAFD4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133856" y="302666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1E5F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LAYER</a:t>
            </a:r>
            <a:endParaRPr lang="en-US" sz="650" dirty="0"/>
          </a:p>
        </p:txBody>
      </p:sp>
      <p:sp>
        <p:nvSpPr>
          <p:cNvPr id="44" name="Text 42"/>
          <p:cNvSpPr/>
          <p:nvPr/>
        </p:nvSpPr>
        <p:spPr>
          <a:xfrm>
            <a:off x="658368" y="336499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Finder + pricing tools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502920" y="4315968"/>
            <a:ext cx="4069080" cy="1316736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02920" y="4315968"/>
            <a:ext cx="406908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02920" y="4315968"/>
            <a:ext cx="45720" cy="1316736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58368" y="4480560"/>
            <a:ext cx="38404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100" dirty="0"/>
          </a:p>
        </p:txBody>
      </p:sp>
      <p:sp>
        <p:nvSpPr>
          <p:cNvPr id="49" name="Shape 47"/>
          <p:cNvSpPr/>
          <p:nvPr/>
        </p:nvSpPr>
        <p:spPr>
          <a:xfrm>
            <a:off x="1133856" y="4489704"/>
            <a:ext cx="1920240" cy="219456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1133856" y="4489704"/>
            <a:ext cx="1920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QUALIFICATION LAYER</a:t>
            </a:r>
            <a:endParaRPr lang="en-US" sz="650" dirty="0"/>
          </a:p>
        </p:txBody>
      </p:sp>
      <p:sp>
        <p:nvSpPr>
          <p:cNvPr id="51" name="Text 49"/>
          <p:cNvSpPr/>
          <p:nvPr/>
        </p:nvSpPr>
        <p:spPr>
          <a:xfrm>
            <a:off x="658368" y="4828032"/>
            <a:ext cx="376732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 intent scoring + CRM routing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4773168" y="1325880"/>
            <a:ext cx="0" cy="4645152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4956048" y="1389888"/>
            <a:ext cx="6931152" cy="2084832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956048" y="1389888"/>
            <a:ext cx="6931152" cy="54864"/>
          </a:xfrm>
          <a:prstGeom prst="rect">
            <a:avLst/>
          </a:prstGeom>
          <a:solidFill>
            <a:srgbClr val="1E5FB8"/>
          </a:solidFill>
          <a:ln w="12700">
            <a:solidFill>
              <a:srgbClr val="1E5FB8"/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4956048" y="1389888"/>
            <a:ext cx="45720" cy="2084832"/>
          </a:xfrm>
          <a:prstGeom prst="rect">
            <a:avLst/>
          </a:prstGeom>
          <a:solidFill>
            <a:srgbClr val="1E5FB8"/>
          </a:solidFill>
          <a:ln w="12700">
            <a:solidFill>
              <a:srgbClr val="1E5FB8"/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5138928" y="1517904"/>
            <a:ext cx="1536192" cy="219456"/>
          </a:xfrm>
          <a:prstGeom prst="rect">
            <a:avLst/>
          </a:prstGeom>
          <a:solidFill>
            <a:srgbClr val="1E5FB8"/>
          </a:solidFill>
          <a:ln w="12700">
            <a:solidFill>
              <a:srgbClr val="1E5FB8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5138928" y="1517904"/>
            <a:ext cx="153619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INDUSTRY FIRST</a:t>
            </a:r>
            <a:endParaRPr lang="en-US" sz="700" dirty="0"/>
          </a:p>
        </p:txBody>
      </p:sp>
      <p:sp>
        <p:nvSpPr>
          <p:cNvPr id="58" name="Text 56"/>
          <p:cNvSpPr/>
          <p:nvPr/>
        </p:nvSpPr>
        <p:spPr>
          <a:xfrm>
            <a:off x="6784848" y="1490472"/>
            <a:ext cx="50109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Finder</a:t>
            </a:r>
            <a:endParaRPr lang="en-US" sz="2100" dirty="0"/>
          </a:p>
        </p:txBody>
      </p:sp>
      <p:sp>
        <p:nvSpPr>
          <p:cNvPr id="59" name="Text 57"/>
          <p:cNvSpPr/>
          <p:nvPr/>
        </p:nvSpPr>
        <p:spPr>
          <a:xfrm>
            <a:off x="5138928" y="1920240"/>
            <a:ext cx="6601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Guides buyers through spec-to-model matching with live on-road pricing by city. No other platform in India does this.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5138928" y="2450592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1" name="Text 59"/>
          <p:cNvSpPr/>
          <p:nvPr/>
        </p:nvSpPr>
        <p:spPr>
          <a:xfrm>
            <a:off x="5413248" y="2450592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Portals list models. They don't guide decisions or capture variant preference.</a:t>
            </a:r>
            <a:endParaRPr lang="en-US" sz="1000" dirty="0"/>
          </a:p>
        </p:txBody>
      </p:sp>
      <p:sp>
        <p:nvSpPr>
          <p:cNvPr id="62" name="Text 60"/>
          <p:cNvSpPr/>
          <p:nvPr/>
        </p:nvSpPr>
        <p:spPr>
          <a:xfrm>
            <a:off x="5138928" y="2743200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✗</a:t>
            </a:r>
            <a:endParaRPr lang="en-US" sz="1000" dirty="0"/>
          </a:p>
        </p:txBody>
      </p:sp>
      <p:sp>
        <p:nvSpPr>
          <p:cNvPr id="63" name="Text 61"/>
          <p:cNvSpPr/>
          <p:nvPr/>
        </p:nvSpPr>
        <p:spPr>
          <a:xfrm>
            <a:off x="5413248" y="2743200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Search ads don't know which variant the user compared or at what price.</a:t>
            </a:r>
            <a:endParaRPr lang="en-US" sz="1000" dirty="0"/>
          </a:p>
        </p:txBody>
      </p:sp>
      <p:sp>
        <p:nvSpPr>
          <p:cNvPr id="64" name="Text 62"/>
          <p:cNvSpPr/>
          <p:nvPr/>
        </p:nvSpPr>
        <p:spPr>
          <a:xfrm>
            <a:off x="5138928" y="3035808"/>
            <a:ext cx="2560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5413248" y="3035808"/>
            <a:ext cx="63825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captures exact variant, on-road price, and city — at the moment of shortlisting.</a:t>
            </a:r>
            <a:endParaRPr lang="en-US" sz="1000" dirty="0"/>
          </a:p>
        </p:txBody>
      </p:sp>
      <p:sp>
        <p:nvSpPr>
          <p:cNvPr id="66" name="Shape 64"/>
          <p:cNvSpPr/>
          <p:nvPr/>
        </p:nvSpPr>
        <p:spPr>
          <a:xfrm>
            <a:off x="4956048" y="3621024"/>
            <a:ext cx="6931152" cy="221284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67" name="Shape 65"/>
          <p:cNvSpPr/>
          <p:nvPr/>
        </p:nvSpPr>
        <p:spPr>
          <a:xfrm>
            <a:off x="4956048" y="3621024"/>
            <a:ext cx="6931152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4956048" y="3621024"/>
            <a:ext cx="45720" cy="221284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5138928" y="3749040"/>
            <a:ext cx="1874520" cy="219456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138928" y="3749040"/>
            <a:ext cx="1874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spc="15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PROPRIETARY</a:t>
            </a:r>
            <a:endParaRPr lang="en-US" sz="700" dirty="0"/>
          </a:p>
        </p:txBody>
      </p:sp>
      <p:sp>
        <p:nvSpPr>
          <p:cNvPr id="71" name="Text 69"/>
          <p:cNvSpPr/>
          <p:nvPr/>
        </p:nvSpPr>
        <p:spPr>
          <a:xfrm>
            <a:off x="7132320" y="372160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 — Build Your Cycle</a:t>
            </a:r>
            <a:endParaRPr lang="en-US" sz="2100" dirty="0"/>
          </a:p>
        </p:txBody>
      </p:sp>
      <p:sp>
        <p:nvSpPr>
          <p:cNvPr id="72" name="Text 70"/>
          <p:cNvSpPr/>
          <p:nvPr/>
        </p:nvSpPr>
        <p:spPr>
          <a:xfrm>
            <a:off x="5138928" y="4160520"/>
            <a:ext cx="660196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8-signal behavioral wizard that scores every user before routing to OLA — zero unqualified leads passed.</a:t>
            </a:r>
            <a:endParaRPr lang="en-US" sz="1100" dirty="0"/>
          </a:p>
        </p:txBody>
      </p:sp>
      <p:sp>
        <p:nvSpPr>
          <p:cNvPr id="73" name="Shape 71"/>
          <p:cNvSpPr/>
          <p:nvPr/>
        </p:nvSpPr>
        <p:spPr>
          <a:xfrm>
            <a:off x="5138928" y="4718304"/>
            <a:ext cx="2029968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5138928" y="47183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range</a:t>
            </a:r>
            <a:endParaRPr lang="en-US" sz="850" dirty="0"/>
          </a:p>
        </p:txBody>
      </p:sp>
      <p:sp>
        <p:nvSpPr>
          <p:cNvPr id="75" name="Shape 73"/>
          <p:cNvSpPr/>
          <p:nvPr/>
        </p:nvSpPr>
        <p:spPr>
          <a:xfrm>
            <a:off x="7333488" y="4718304"/>
            <a:ext cx="2029968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7333488" y="47183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</a:t>
            </a:r>
            <a:endParaRPr lang="en-US" sz="850" dirty="0"/>
          </a:p>
        </p:txBody>
      </p:sp>
      <p:sp>
        <p:nvSpPr>
          <p:cNvPr id="77" name="Shape 75"/>
          <p:cNvSpPr/>
          <p:nvPr/>
        </p:nvSpPr>
        <p:spPr>
          <a:xfrm>
            <a:off x="9528048" y="4718304"/>
            <a:ext cx="2029968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9528048" y="4718304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 sensitivity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5138928" y="5029200"/>
            <a:ext cx="2029968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138928" y="50292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7333488" y="5029200"/>
            <a:ext cx="2029968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7333488" y="50292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shortlist</a:t>
            </a:r>
            <a:endParaRPr lang="en-US" sz="850" dirty="0"/>
          </a:p>
        </p:txBody>
      </p:sp>
      <p:sp>
        <p:nvSpPr>
          <p:cNvPr id="83" name="Shape 81"/>
          <p:cNvSpPr/>
          <p:nvPr/>
        </p:nvSpPr>
        <p:spPr>
          <a:xfrm>
            <a:off x="9528048" y="5029200"/>
            <a:ext cx="2029968" cy="237744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9528048" y="5029200"/>
            <a:ext cx="20299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Timeline</a:t>
            </a:r>
            <a:endParaRPr lang="en-US" sz="850" dirty="0"/>
          </a:p>
        </p:txBody>
      </p:sp>
      <p:sp>
        <p:nvSpPr>
          <p:cNvPr id="85" name="Shape 83"/>
          <p:cNvSpPr/>
          <p:nvPr/>
        </p:nvSpPr>
        <p:spPr>
          <a:xfrm>
            <a:off x="5138928" y="5431536"/>
            <a:ext cx="6601968" cy="274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5230368" y="5431536"/>
            <a:ext cx="6492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90+  →  Hot lead routed to OLA CRM in real time.  No noise. No manual filtering.</a:t>
            </a:r>
            <a:endParaRPr lang="en-US" sz="950" dirty="0"/>
          </a:p>
        </p:txBody>
      </p:sp>
      <p:sp>
        <p:nvSpPr>
          <p:cNvPr id="87" name="Shape 85"/>
          <p:cNvSpPr/>
          <p:nvPr/>
        </p:nvSpPr>
        <p:spPr>
          <a:xfrm>
            <a:off x="0" y="5925312"/>
            <a:ext cx="12161520" cy="71323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548640" y="5925312"/>
            <a:ext cx="114300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other platform in India owns the decision layer and qualifies intent before the lead is passed.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65048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68705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0515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behavioral intent engine filters high-value buyers in real time.</a:t>
            </a:r>
            <a:endParaRPr lang="en-US" sz="2400" dirty="0"/>
          </a:p>
        </p:txBody>
      </p:sp>
      <p:sp>
        <p:nvSpPr>
          <p:cNvPr id="31" name="Shape 29"/>
          <p:cNvSpPr/>
          <p:nvPr/>
        </p:nvSpPr>
        <p:spPr>
          <a:xfrm>
            <a:off x="548640" y="1371600"/>
            <a:ext cx="11064240" cy="0"/>
          </a:xfrm>
          <a:prstGeom prst="line">
            <a:avLst/>
          </a:prstGeom>
          <a:noFill/>
          <a:ln w="12700">
            <a:solidFill>
              <a:srgbClr val="8B182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14813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SIGNALS CAPTURED</a:t>
            </a:r>
            <a:endParaRPr lang="en-US" sz="750" dirty="0"/>
          </a:p>
        </p:txBody>
      </p:sp>
      <p:sp>
        <p:nvSpPr>
          <p:cNvPr id="33" name="Shape 31"/>
          <p:cNvSpPr/>
          <p:nvPr/>
        </p:nvSpPr>
        <p:spPr>
          <a:xfrm>
            <a:off x="548640" y="1828800"/>
            <a:ext cx="5303520" cy="877824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1828800"/>
            <a:ext cx="530352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" y="2029968"/>
            <a:ext cx="310896" cy="310896"/>
          </a:xfrm>
          <a:prstGeom prst="ellipse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13232" y="20299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152144" y="193852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&amp; financing sensitivity</a:t>
            </a:r>
            <a:endParaRPr lang="en-US" sz="1250" dirty="0"/>
          </a:p>
        </p:txBody>
      </p:sp>
      <p:sp>
        <p:nvSpPr>
          <p:cNvPr id="38" name="Text 36"/>
          <p:cNvSpPr/>
          <p:nvPr/>
        </p:nvSpPr>
        <p:spPr>
          <a:xfrm>
            <a:off x="1152144" y="230428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 range + EMI willingness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48640" y="2834640"/>
            <a:ext cx="5303520" cy="877824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548640" y="2834640"/>
            <a:ext cx="530352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13232" y="3035808"/>
            <a:ext cx="310896" cy="310896"/>
          </a:xfrm>
          <a:prstGeom prst="ellipse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13232" y="303580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1152144" y="294436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case declaration</a:t>
            </a:r>
            <a:endParaRPr lang="en-US" sz="1250" dirty="0"/>
          </a:p>
        </p:txBody>
      </p:sp>
      <p:sp>
        <p:nvSpPr>
          <p:cNvPr id="44" name="Text 42"/>
          <p:cNvSpPr/>
          <p:nvPr/>
        </p:nvSpPr>
        <p:spPr>
          <a:xfrm>
            <a:off x="1152144" y="331012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Commute / performance / long-distance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548640" y="3840480"/>
            <a:ext cx="5303520" cy="877824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548640" y="3840480"/>
            <a:ext cx="530352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713232" y="4041648"/>
            <a:ext cx="310896" cy="310896"/>
          </a:xfrm>
          <a:prstGeom prst="ellipse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13232" y="40416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1152144" y="395020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consideration set</a:t>
            </a:r>
            <a:endParaRPr lang="en-US" sz="1250" dirty="0"/>
          </a:p>
        </p:txBody>
      </p:sp>
      <p:sp>
        <p:nvSpPr>
          <p:cNvPr id="50" name="Text 48"/>
          <p:cNvSpPr/>
          <p:nvPr/>
        </p:nvSpPr>
        <p:spPr>
          <a:xfrm>
            <a:off x="1152144" y="431596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models compared and shortlisted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548640" y="4846320"/>
            <a:ext cx="5303520" cy="877824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52" name="Shape 50"/>
          <p:cNvSpPr/>
          <p:nvPr/>
        </p:nvSpPr>
        <p:spPr>
          <a:xfrm>
            <a:off x="548640" y="4846320"/>
            <a:ext cx="530352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713232" y="5047488"/>
            <a:ext cx="310896" cy="310896"/>
          </a:xfrm>
          <a:prstGeom prst="ellipse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13232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1152144" y="4956048"/>
            <a:ext cx="44805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Location context</a:t>
            </a:r>
            <a:endParaRPr lang="en-US" sz="1250" dirty="0"/>
          </a:p>
        </p:txBody>
      </p:sp>
      <p:sp>
        <p:nvSpPr>
          <p:cNvPr id="56" name="Text 54"/>
          <p:cNvSpPr/>
          <p:nvPr/>
        </p:nvSpPr>
        <p:spPr>
          <a:xfrm>
            <a:off x="1152144" y="5321808"/>
            <a:ext cx="4480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 → nearest OLA experience centre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6446520" y="1481328"/>
            <a:ext cx="5303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— INTENT TIERS</a:t>
            </a:r>
            <a:endParaRPr lang="en-US" sz="750" dirty="0"/>
          </a:p>
        </p:txBody>
      </p:sp>
      <p:sp>
        <p:nvSpPr>
          <p:cNvPr id="58" name="Shape 56"/>
          <p:cNvSpPr/>
          <p:nvPr/>
        </p:nvSpPr>
        <p:spPr>
          <a:xfrm>
            <a:off x="6446520" y="1828800"/>
            <a:ext cx="5303520" cy="107899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59" name="Shape 57"/>
          <p:cNvSpPr/>
          <p:nvPr/>
        </p:nvSpPr>
        <p:spPr>
          <a:xfrm>
            <a:off x="6446520" y="1828800"/>
            <a:ext cx="5303520" cy="54864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6629400" y="195681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</a:t>
            </a:r>
            <a:endParaRPr lang="en-US" sz="2000" dirty="0"/>
          </a:p>
        </p:txBody>
      </p:sp>
      <p:sp>
        <p:nvSpPr>
          <p:cNvPr id="61" name="Text 59"/>
          <p:cNvSpPr/>
          <p:nvPr/>
        </p:nvSpPr>
        <p:spPr>
          <a:xfrm>
            <a:off x="6629400" y="243230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90–100</a:t>
            </a:r>
            <a:endParaRPr lang="en-US" sz="850" dirty="0"/>
          </a:p>
        </p:txBody>
      </p:sp>
      <p:sp>
        <p:nvSpPr>
          <p:cNvPr id="62" name="Shape 60"/>
          <p:cNvSpPr/>
          <p:nvPr/>
        </p:nvSpPr>
        <p:spPr>
          <a:xfrm>
            <a:off x="8366760" y="1975104"/>
            <a:ext cx="0" cy="786384"/>
          </a:xfrm>
          <a:prstGeom prst="line">
            <a:avLst/>
          </a:prstGeom>
          <a:noFill/>
          <a:ln w="9525">
            <a:solidFill>
              <a:srgbClr val="3D0A0E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8549640" y="2011680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buy within 30 days. Specific model, budget confirmed, city set.</a:t>
            </a:r>
            <a:endParaRPr lang="en-US" sz="1100" dirty="0"/>
          </a:p>
        </p:txBody>
      </p:sp>
      <p:sp>
        <p:nvSpPr>
          <p:cNvPr id="64" name="Shape 62"/>
          <p:cNvSpPr/>
          <p:nvPr/>
        </p:nvSpPr>
        <p:spPr>
          <a:xfrm>
            <a:off x="6446520" y="3063240"/>
            <a:ext cx="5303520" cy="107899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65" name="Shape 63"/>
          <p:cNvSpPr/>
          <p:nvPr/>
        </p:nvSpPr>
        <p:spPr>
          <a:xfrm>
            <a:off x="6446520" y="3063240"/>
            <a:ext cx="5303520" cy="54864"/>
          </a:xfrm>
          <a:prstGeom prst="rect">
            <a:avLst/>
          </a:prstGeom>
          <a:solidFill>
            <a:srgbClr val="B86B00"/>
          </a:solidFill>
          <a:ln w="12700">
            <a:solidFill>
              <a:srgbClr val="B86B0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6629400" y="319125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B86B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Warm</a:t>
            </a:r>
            <a:endParaRPr lang="en-US" sz="2000" dirty="0"/>
          </a:p>
        </p:txBody>
      </p:sp>
      <p:sp>
        <p:nvSpPr>
          <p:cNvPr id="67" name="Text 65"/>
          <p:cNvSpPr/>
          <p:nvPr/>
        </p:nvSpPr>
        <p:spPr>
          <a:xfrm>
            <a:off x="6629400" y="366674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60–89</a:t>
            </a:r>
            <a:endParaRPr lang="en-US" sz="850" dirty="0"/>
          </a:p>
        </p:txBody>
      </p:sp>
      <p:sp>
        <p:nvSpPr>
          <p:cNvPr id="68" name="Shape 66"/>
          <p:cNvSpPr/>
          <p:nvPr/>
        </p:nvSpPr>
        <p:spPr>
          <a:xfrm>
            <a:off x="8366760" y="3209544"/>
            <a:ext cx="0" cy="786384"/>
          </a:xfrm>
          <a:prstGeom prst="line">
            <a:avLst/>
          </a:prstGeom>
          <a:noFill/>
          <a:ln w="9525">
            <a:solidFill>
              <a:srgbClr val="E9EBEE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8549640" y="3246120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Actively shortlisting. 30–90 day window. High engagement on pricing tool.</a:t>
            </a:r>
            <a:endParaRPr lang="en-US" sz="1100" dirty="0"/>
          </a:p>
        </p:txBody>
      </p:sp>
      <p:sp>
        <p:nvSpPr>
          <p:cNvPr id="70" name="Shape 68"/>
          <p:cNvSpPr/>
          <p:nvPr/>
        </p:nvSpPr>
        <p:spPr>
          <a:xfrm>
            <a:off x="6446520" y="4297680"/>
            <a:ext cx="5303520" cy="107899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71" name="Shape 69"/>
          <p:cNvSpPr/>
          <p:nvPr/>
        </p:nvSpPr>
        <p:spPr>
          <a:xfrm>
            <a:off x="6446520" y="4297680"/>
            <a:ext cx="5303520" cy="54864"/>
          </a:xfrm>
          <a:prstGeom prst="rect">
            <a:avLst/>
          </a:prstGeom>
          <a:solidFill>
            <a:srgbClr val="94949C"/>
          </a:solidFill>
          <a:ln w="12700">
            <a:solidFill>
              <a:srgbClr val="94949C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629400" y="4425696"/>
            <a:ext cx="1097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</a:t>
            </a:r>
            <a:endParaRPr lang="en-US" sz="2000" dirty="0"/>
          </a:p>
        </p:txBody>
      </p:sp>
      <p:sp>
        <p:nvSpPr>
          <p:cNvPr id="73" name="Text 71"/>
          <p:cNvSpPr/>
          <p:nvPr/>
        </p:nvSpPr>
        <p:spPr>
          <a:xfrm>
            <a:off x="6629400" y="4901184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&lt; 60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8366760" y="4443984"/>
            <a:ext cx="0" cy="786384"/>
          </a:xfrm>
          <a:prstGeom prst="line">
            <a:avLst/>
          </a:prstGeom>
          <a:noFill/>
          <a:ln w="9525">
            <a:solidFill>
              <a:srgbClr val="E9EBEE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8549640" y="4480560"/>
            <a:ext cx="2971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Exploring stage. Content nurture sequence. Not passed to OLA sales.</a:t>
            </a:r>
            <a:endParaRPr lang="en-US" sz="1100" dirty="0"/>
          </a:p>
        </p:txBody>
      </p:sp>
      <p:sp>
        <p:nvSpPr>
          <p:cNvPr id="76" name="Shape 74"/>
          <p:cNvSpPr/>
          <p:nvPr/>
        </p:nvSpPr>
        <p:spPr>
          <a:xfrm>
            <a:off x="6446520" y="5559552"/>
            <a:ext cx="5303520" cy="822960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6446520" y="5559552"/>
            <a:ext cx="45720" cy="82296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6629400" y="5559552"/>
            <a:ext cx="49377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high-intent users are passed to OLA — reducing lead noise by design.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877824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81481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 TO OLA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58368"/>
            <a:ext cx="110642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2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Lead Delivered Knows Which OLA Variant They Want.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48640" y="1243584"/>
            <a:ext cx="10058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scored exclusively through BYC and Variant Finder — signals no other lead platform captures.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48640" y="1554480"/>
            <a:ext cx="11064240" cy="0"/>
          </a:xfrm>
          <a:prstGeom prst="line">
            <a:avLst/>
          </a:prstGeom>
          <a:noFill/>
          <a:ln w="15240">
            <a:solidFill>
              <a:srgbClr val="8B182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1682496"/>
            <a:ext cx="5394960" cy="230428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548640" y="1682496"/>
            <a:ext cx="64008" cy="2304288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49808" y="1810512"/>
            <a:ext cx="1188720" cy="182880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49808" y="1810512"/>
            <a:ext cx="1188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2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 MODULE</a:t>
            </a:r>
            <a:endParaRPr lang="en-US" sz="650" dirty="0"/>
          </a:p>
        </p:txBody>
      </p:sp>
      <p:sp>
        <p:nvSpPr>
          <p:cNvPr id="37" name="Text 35"/>
          <p:cNvSpPr/>
          <p:nvPr/>
        </p:nvSpPr>
        <p:spPr>
          <a:xfrm>
            <a:off x="749808" y="2029968"/>
            <a:ext cx="5029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BYC-Completed Leads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49808" y="2340864"/>
            <a:ext cx="21945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/ month</a:t>
            </a:r>
            <a:endParaRPr lang="en-US" sz="2800" dirty="0"/>
          </a:p>
        </p:txBody>
      </p:sp>
      <p:sp>
        <p:nvSpPr>
          <p:cNvPr id="39" name="Shape 37"/>
          <p:cNvSpPr/>
          <p:nvPr/>
        </p:nvSpPr>
        <p:spPr>
          <a:xfrm>
            <a:off x="3017520" y="2414016"/>
            <a:ext cx="1005840" cy="310896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017520" y="2414016"/>
            <a:ext cx="1005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22–28%</a:t>
            </a:r>
            <a:endParaRPr lang="en-US" sz="8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→ Retail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749808" y="2834640"/>
            <a:ext cx="5029200" cy="0"/>
          </a:xfrm>
          <a:prstGeom prst="line">
            <a:avLst/>
          </a:prstGeom>
          <a:noFill/>
          <a:ln w="7620">
            <a:solidFill>
              <a:srgbClr val="5A0F15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749808" y="2926080"/>
            <a:ext cx="2395728" cy="201168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49808" y="2926080"/>
            <a:ext cx="548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841248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selected</a:t>
            </a:r>
            <a:endParaRPr lang="en-US" sz="800" dirty="0"/>
          </a:p>
        </p:txBody>
      </p:sp>
      <p:sp>
        <p:nvSpPr>
          <p:cNvPr id="45" name="Shape 43"/>
          <p:cNvSpPr/>
          <p:nvPr/>
        </p:nvSpPr>
        <p:spPr>
          <a:xfrm>
            <a:off x="3328416" y="2926080"/>
            <a:ext cx="2395728" cy="201168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3328416" y="2926080"/>
            <a:ext cx="548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19856" y="292608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&amp; battery locked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749808" y="3182112"/>
            <a:ext cx="2395728" cy="201168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49808" y="3182112"/>
            <a:ext cx="548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841248" y="3182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Budget bracket set</a:t>
            </a:r>
            <a:endParaRPr lang="en-US" sz="800" dirty="0"/>
          </a:p>
        </p:txBody>
      </p:sp>
      <p:sp>
        <p:nvSpPr>
          <p:cNvPr id="51" name="Shape 49"/>
          <p:cNvSpPr/>
          <p:nvPr/>
        </p:nvSpPr>
        <p:spPr>
          <a:xfrm>
            <a:off x="3328416" y="3182112"/>
            <a:ext cx="2395728" cy="201168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328416" y="3182112"/>
            <a:ext cx="54864" cy="2011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3419856" y="3182112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Finance option chosen</a:t>
            </a:r>
            <a:endParaRPr lang="en-US" sz="800" dirty="0"/>
          </a:p>
        </p:txBody>
      </p:sp>
      <p:sp>
        <p:nvSpPr>
          <p:cNvPr id="54" name="Text 52"/>
          <p:cNvSpPr/>
          <p:nvPr/>
        </p:nvSpPr>
        <p:spPr>
          <a:xfrm>
            <a:off x="749808" y="3474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knows exactly which OLA variant they want — ready for dealer call.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548640" y="4078224"/>
            <a:ext cx="5394960" cy="182880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56" name="Shape 54"/>
          <p:cNvSpPr/>
          <p:nvPr/>
        </p:nvSpPr>
        <p:spPr>
          <a:xfrm>
            <a:off x="548640" y="4078224"/>
            <a:ext cx="64008" cy="182880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49808" y="4169664"/>
            <a:ext cx="1463040" cy="182880"/>
          </a:xfrm>
          <a:prstGeom prst="rect">
            <a:avLst/>
          </a:prstGeom>
          <a:solidFill>
            <a:srgbClr val="F5E6E8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49808" y="4169664"/>
            <a:ext cx="1463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2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FINDER</a:t>
            </a:r>
            <a:endParaRPr lang="en-US" sz="650" dirty="0"/>
          </a:p>
        </p:txBody>
      </p:sp>
      <p:sp>
        <p:nvSpPr>
          <p:cNvPr id="59" name="Text 57"/>
          <p:cNvSpPr/>
          <p:nvPr/>
        </p:nvSpPr>
        <p:spPr>
          <a:xfrm>
            <a:off x="749808" y="4389120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Finder-Matched Leads</a:t>
            </a:r>
            <a:endParaRPr lang="en-US" sz="1300" dirty="0"/>
          </a:p>
        </p:txBody>
      </p:sp>
      <p:sp>
        <p:nvSpPr>
          <p:cNvPr id="60" name="Text 58"/>
          <p:cNvSpPr/>
          <p:nvPr/>
        </p:nvSpPr>
        <p:spPr>
          <a:xfrm>
            <a:off x="749808" y="46634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/ month</a:t>
            </a:r>
            <a:endParaRPr lang="en-US" sz="2400" dirty="0"/>
          </a:p>
        </p:txBody>
      </p:sp>
      <p:sp>
        <p:nvSpPr>
          <p:cNvPr id="61" name="Shape 59"/>
          <p:cNvSpPr/>
          <p:nvPr/>
        </p:nvSpPr>
        <p:spPr>
          <a:xfrm>
            <a:off x="3017520" y="4718304"/>
            <a:ext cx="914400" cy="256032"/>
          </a:xfrm>
          <a:prstGeom prst="rect">
            <a:avLst/>
          </a:prstGeom>
          <a:solidFill>
            <a:srgbClr val="F5E6E8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017520" y="4718304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12–16%</a:t>
            </a:r>
            <a:endParaRPr lang="en-US" sz="750" dirty="0"/>
          </a:p>
          <a:p>
            <a:pPr algn="ctr" indent="0" marL="0">
              <a:lnSpc>
                <a:spcPct val="110000"/>
              </a:lnSpc>
              <a:buNone/>
            </a:pPr>
            <a:r>
              <a:rPr lang="en-US" sz="75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 → Retail</a:t>
            </a:r>
            <a:endParaRPr lang="en-US" sz="750" dirty="0"/>
          </a:p>
        </p:txBody>
      </p:sp>
      <p:sp>
        <p:nvSpPr>
          <p:cNvPr id="63" name="Shape 61"/>
          <p:cNvSpPr/>
          <p:nvPr/>
        </p:nvSpPr>
        <p:spPr>
          <a:xfrm>
            <a:off x="749808" y="5065776"/>
            <a:ext cx="2395728" cy="182880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/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749808" y="5065776"/>
            <a:ext cx="54864" cy="18288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41248" y="50657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Shortlisted OLA model</a:t>
            </a:r>
            <a:endParaRPr lang="en-US" sz="750" dirty="0"/>
          </a:p>
        </p:txBody>
      </p:sp>
      <p:sp>
        <p:nvSpPr>
          <p:cNvPr id="66" name="Shape 64"/>
          <p:cNvSpPr/>
          <p:nvPr/>
        </p:nvSpPr>
        <p:spPr>
          <a:xfrm>
            <a:off x="3328416" y="5065776"/>
            <a:ext cx="2395728" cy="182880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/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3328416" y="5065776"/>
            <a:ext cx="54864" cy="18288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419856" y="5065776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Compared 2+ variants</a:t>
            </a:r>
            <a:endParaRPr lang="en-US" sz="750" dirty="0"/>
          </a:p>
        </p:txBody>
      </p:sp>
      <p:sp>
        <p:nvSpPr>
          <p:cNvPr id="69" name="Shape 67"/>
          <p:cNvSpPr/>
          <p:nvPr/>
        </p:nvSpPr>
        <p:spPr>
          <a:xfrm>
            <a:off x="749808" y="5303520"/>
            <a:ext cx="2395728" cy="182880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749808" y="5303520"/>
            <a:ext cx="54864" cy="18288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841248" y="5303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range filtered</a:t>
            </a:r>
            <a:endParaRPr lang="en-US" sz="750" dirty="0"/>
          </a:p>
        </p:txBody>
      </p:sp>
      <p:sp>
        <p:nvSpPr>
          <p:cNvPr id="72" name="Shape 70"/>
          <p:cNvSpPr/>
          <p:nvPr/>
        </p:nvSpPr>
        <p:spPr>
          <a:xfrm>
            <a:off x="3328416" y="5303520"/>
            <a:ext cx="2395728" cy="182880"/>
          </a:xfrm>
          <a:prstGeom prst="rect">
            <a:avLst/>
          </a:prstGeom>
          <a:solidFill>
            <a:srgbClr val="F5E6E8"/>
          </a:solidFill>
          <a:ln w="12700">
            <a:solidFill>
              <a:srgbClr val="F5E6E8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3328416" y="5303520"/>
            <a:ext cx="54864" cy="18288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3419856" y="5303520"/>
            <a:ext cx="2286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Re-visited 2× in 7 days</a:t>
            </a:r>
            <a:endParaRPr lang="en-US" sz="750" dirty="0"/>
          </a:p>
        </p:txBody>
      </p:sp>
      <p:sp>
        <p:nvSpPr>
          <p:cNvPr id="75" name="Shape 73"/>
          <p:cNvSpPr/>
          <p:nvPr/>
        </p:nvSpPr>
        <p:spPr>
          <a:xfrm>
            <a:off x="6263640" y="1682496"/>
            <a:ext cx="5349240" cy="135331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76" name="Shape 74"/>
          <p:cNvSpPr/>
          <p:nvPr/>
        </p:nvSpPr>
        <p:spPr>
          <a:xfrm>
            <a:off x="6263640" y="1682496"/>
            <a:ext cx="5349240" cy="4572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446520" y="1783080"/>
            <a:ext cx="5029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15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MONTHLY VOLUME</a:t>
            </a:r>
            <a:endParaRPr lang="en-US" sz="800" dirty="0"/>
          </a:p>
        </p:txBody>
      </p:sp>
      <p:sp>
        <p:nvSpPr>
          <p:cNvPr id="78" name="Text 76"/>
          <p:cNvSpPr/>
          <p:nvPr/>
        </p:nvSpPr>
        <p:spPr>
          <a:xfrm>
            <a:off x="6446520" y="1993392"/>
            <a:ext cx="2011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7,000</a:t>
            </a:r>
            <a:endParaRPr lang="en-US" sz="4400" dirty="0"/>
          </a:p>
        </p:txBody>
      </p:sp>
      <p:sp>
        <p:nvSpPr>
          <p:cNvPr id="79" name="Text 77"/>
          <p:cNvSpPr/>
          <p:nvPr/>
        </p:nvSpPr>
        <p:spPr>
          <a:xfrm>
            <a:off x="8503920" y="2057400"/>
            <a:ext cx="29260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intent-qualified</a:t>
            </a:r>
            <a:endParaRPr lang="en-US" sz="110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1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leads / month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6446520" y="2633472"/>
            <a:ext cx="5029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9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 + Variant Finder signals only. No form-fill guesswork.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6263640" y="3127248"/>
            <a:ext cx="5349240" cy="27432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263640" y="3127248"/>
            <a:ext cx="1528354" cy="27432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7791994" y="3127248"/>
            <a:ext cx="3820886" cy="274320"/>
          </a:xfrm>
          <a:prstGeom prst="rect">
            <a:avLst/>
          </a:prstGeom>
          <a:solidFill>
            <a:srgbClr val="C4687D"/>
          </a:solidFill>
          <a:ln w="12700">
            <a:solidFill>
              <a:srgbClr val="C4687D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6281928" y="3145536"/>
            <a:ext cx="145520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  29%</a:t>
            </a:r>
            <a:endParaRPr lang="en-US" sz="700" dirty="0"/>
          </a:p>
        </p:txBody>
      </p:sp>
      <p:sp>
        <p:nvSpPr>
          <p:cNvPr id="85" name="Text 83"/>
          <p:cNvSpPr/>
          <p:nvPr/>
        </p:nvSpPr>
        <p:spPr>
          <a:xfrm>
            <a:off x="7828570" y="3145536"/>
            <a:ext cx="374773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Finder  71%</a:t>
            </a:r>
            <a:endParaRPr lang="en-US" sz="700" dirty="0"/>
          </a:p>
        </p:txBody>
      </p:sp>
      <p:sp>
        <p:nvSpPr>
          <p:cNvPr id="86" name="Shape 84"/>
          <p:cNvSpPr/>
          <p:nvPr/>
        </p:nvSpPr>
        <p:spPr>
          <a:xfrm>
            <a:off x="6263640" y="3511296"/>
            <a:ext cx="5349240" cy="8046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87" name="Shape 85"/>
          <p:cNvSpPr/>
          <p:nvPr/>
        </p:nvSpPr>
        <p:spPr>
          <a:xfrm>
            <a:off x="6263640" y="3511296"/>
            <a:ext cx="64008" cy="8046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6446520" y="35661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BYC leads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6446520" y="37673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2,000 leads × 25% conversion</a:t>
            </a:r>
            <a:endParaRPr lang="en-US" sz="850" dirty="0"/>
          </a:p>
        </p:txBody>
      </p:sp>
      <p:sp>
        <p:nvSpPr>
          <p:cNvPr id="90" name="Text 88"/>
          <p:cNvSpPr/>
          <p:nvPr/>
        </p:nvSpPr>
        <p:spPr>
          <a:xfrm>
            <a:off x="9052560" y="37124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~500 units/mo</a:t>
            </a:r>
            <a:endParaRPr lang="en-US" sz="1600" dirty="0"/>
          </a:p>
        </p:txBody>
      </p:sp>
      <p:sp>
        <p:nvSpPr>
          <p:cNvPr id="91" name="Shape 89"/>
          <p:cNvSpPr/>
          <p:nvPr/>
        </p:nvSpPr>
        <p:spPr>
          <a:xfrm>
            <a:off x="6263640" y="4425696"/>
            <a:ext cx="5349240" cy="80467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92" name="Shape 90"/>
          <p:cNvSpPr/>
          <p:nvPr/>
        </p:nvSpPr>
        <p:spPr>
          <a:xfrm>
            <a:off x="6263640" y="4425696"/>
            <a:ext cx="64008" cy="8046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6446520" y="4480560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Variant Finder leads</a:t>
            </a:r>
            <a:endParaRPr lang="en-US" sz="900" dirty="0"/>
          </a:p>
        </p:txBody>
      </p:sp>
      <p:sp>
        <p:nvSpPr>
          <p:cNvPr id="94" name="Text 92"/>
          <p:cNvSpPr/>
          <p:nvPr/>
        </p:nvSpPr>
        <p:spPr>
          <a:xfrm>
            <a:off x="6446520" y="468172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5,000 leads × 14% conversion</a:t>
            </a:r>
            <a:endParaRPr lang="en-US" sz="850" dirty="0"/>
          </a:p>
        </p:txBody>
      </p:sp>
      <p:sp>
        <p:nvSpPr>
          <p:cNvPr id="95" name="Text 93"/>
          <p:cNvSpPr/>
          <p:nvPr/>
        </p:nvSpPr>
        <p:spPr>
          <a:xfrm>
            <a:off x="9052560" y="4626864"/>
            <a:ext cx="2377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6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~700 units/mo</a:t>
            </a:r>
            <a:endParaRPr lang="en-US" sz="1600" dirty="0"/>
          </a:p>
        </p:txBody>
      </p:sp>
      <p:sp>
        <p:nvSpPr>
          <p:cNvPr id="96" name="Shape 94"/>
          <p:cNvSpPr/>
          <p:nvPr/>
        </p:nvSpPr>
        <p:spPr>
          <a:xfrm>
            <a:off x="6263640" y="5376672"/>
            <a:ext cx="5349240" cy="53035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  <a:effectLst>
            <a:outerShdw sx="100000" sy="100000" kx="0" ky="0" algn="bl" rotWithShape="0" blurRad="177800" dist="38100" dir="8100000">
              <a:srgbClr val="000000">
                <a:alpha val="9000"/>
              </a:srgbClr>
            </a:outerShdw>
          </a:effectLst>
        </p:spPr>
      </p:sp>
      <p:sp>
        <p:nvSpPr>
          <p:cNvPr id="97" name="Text 95"/>
          <p:cNvSpPr/>
          <p:nvPr/>
        </p:nvSpPr>
        <p:spPr>
          <a:xfrm>
            <a:off x="6446520" y="5376672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Projected Retail:</a:t>
            </a:r>
            <a:endParaRPr lang="en-US" sz="1000" dirty="0"/>
          </a:p>
        </p:txBody>
      </p:sp>
      <p:sp>
        <p:nvSpPr>
          <p:cNvPr id="98" name="Text 96"/>
          <p:cNvSpPr/>
          <p:nvPr/>
        </p:nvSpPr>
        <p:spPr>
          <a:xfrm>
            <a:off x="9144000" y="5376672"/>
            <a:ext cx="22860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~1,200 OLA units / month</a:t>
            </a:r>
            <a:endParaRPr lang="en-US" sz="1400" dirty="0"/>
          </a:p>
        </p:txBody>
      </p:sp>
      <p:sp>
        <p:nvSpPr>
          <p:cNvPr id="99" name="Text 97"/>
          <p:cNvSpPr/>
          <p:nvPr/>
        </p:nvSpPr>
        <p:spPr>
          <a:xfrm>
            <a:off x="6446520" y="5943600"/>
            <a:ext cx="5029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variant-decided buyers only — not form fills.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990600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94257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05156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user behavior reflects active purchase evaluation — not passive browsing.</a:t>
            </a:r>
            <a:endParaRPr lang="en-US" sz="2300" dirty="0"/>
          </a:p>
        </p:txBody>
      </p:sp>
      <p:sp>
        <p:nvSpPr>
          <p:cNvPr id="31" name="Shape 29"/>
          <p:cNvSpPr/>
          <p:nvPr/>
        </p:nvSpPr>
        <p:spPr>
          <a:xfrm>
            <a:off x="548640" y="1463040"/>
            <a:ext cx="11064240" cy="0"/>
          </a:xfrm>
          <a:prstGeom prst="line">
            <a:avLst/>
          </a:prstGeom>
          <a:noFill/>
          <a:ln w="12700">
            <a:solidFill>
              <a:srgbClr val="8B1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1572768"/>
            <a:ext cx="3520440" cy="309067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1572768"/>
            <a:ext cx="35204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4088" y="1737360"/>
            <a:ext cx="3118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4.5</a:t>
            </a:r>
            <a:endParaRPr lang="en-US" sz="4400" dirty="0"/>
          </a:p>
        </p:txBody>
      </p:sp>
      <p:sp>
        <p:nvSpPr>
          <p:cNvPr id="35" name="Text 33"/>
          <p:cNvSpPr/>
          <p:nvPr/>
        </p:nvSpPr>
        <p:spPr>
          <a:xfrm>
            <a:off x="704088" y="2505456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 / session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704088" y="280720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2–3× typical browsing benchmark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704088" y="3200400"/>
            <a:ext cx="3118104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04088" y="3346704"/>
            <a:ext cx="31181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are not scanning — they are reading, comparing, and revisiting. This is decision-stage depth, not top-of-funnel curiosity.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4297680" y="1572768"/>
            <a:ext cx="3520440" cy="309067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297680" y="1572768"/>
            <a:ext cx="35204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498848" y="1737360"/>
            <a:ext cx="3118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</a:t>
            </a:r>
            <a:endParaRPr lang="en-US" sz="4400" dirty="0"/>
          </a:p>
        </p:txBody>
      </p:sp>
      <p:sp>
        <p:nvSpPr>
          <p:cNvPr id="42" name="Text 40"/>
          <p:cNvSpPr/>
          <p:nvPr/>
        </p:nvSpPr>
        <p:spPr>
          <a:xfrm>
            <a:off x="4498848" y="2505456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engagement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4498848" y="280720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comparison &amp; pricing modules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4498848" y="3200400"/>
            <a:ext cx="3118104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498848" y="3346704"/>
            <a:ext cx="31181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modules with highest engagement are side-by-side comparison and on-road price calculator — both are purchase-decision tools.</a:t>
            </a:r>
            <a:endParaRPr lang="en-US" sz="1050" dirty="0"/>
          </a:p>
        </p:txBody>
      </p:sp>
      <p:sp>
        <p:nvSpPr>
          <p:cNvPr id="46" name="Shape 44"/>
          <p:cNvSpPr/>
          <p:nvPr/>
        </p:nvSpPr>
        <p:spPr>
          <a:xfrm>
            <a:off x="8092440" y="1572768"/>
            <a:ext cx="3520440" cy="3090672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7" name="Shape 45"/>
          <p:cNvSpPr/>
          <p:nvPr/>
        </p:nvSpPr>
        <p:spPr>
          <a:xfrm>
            <a:off x="8092440" y="1572768"/>
            <a:ext cx="352044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8293608" y="1737360"/>
            <a:ext cx="31181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</a:t>
            </a:r>
            <a:endParaRPr lang="en-US" sz="4400" dirty="0"/>
          </a:p>
        </p:txBody>
      </p:sp>
      <p:sp>
        <p:nvSpPr>
          <p:cNvPr id="49" name="Text 47"/>
          <p:cNvSpPr/>
          <p:nvPr/>
        </p:nvSpPr>
        <p:spPr>
          <a:xfrm>
            <a:off x="8293608" y="2505456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navigation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8293608" y="2807208"/>
            <a:ext cx="31181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EV-specific journeys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8293608" y="3200400"/>
            <a:ext cx="3118104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8293608" y="3346704"/>
            <a:ext cx="3118104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5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traverse editorial reviews → spec comparisons → pricing → BYC wizard. A structured research sequence, not random browsing.</a:t>
            </a:r>
            <a:endParaRPr lang="en-US" sz="1050" dirty="0"/>
          </a:p>
        </p:txBody>
      </p:sp>
      <p:sp>
        <p:nvSpPr>
          <p:cNvPr id="53" name="Shape 51"/>
          <p:cNvSpPr/>
          <p:nvPr/>
        </p:nvSpPr>
        <p:spPr>
          <a:xfrm>
            <a:off x="502920" y="4828032"/>
            <a:ext cx="11155680" cy="1572768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502920" y="4828032"/>
            <a:ext cx="45720" cy="157276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77240" y="4937760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INTERPRETATION</a:t>
            </a:r>
            <a:endParaRPr lang="en-US" sz="750" dirty="0"/>
          </a:p>
        </p:txBody>
      </p:sp>
      <p:sp>
        <p:nvSpPr>
          <p:cNvPr id="56" name="Text 54"/>
          <p:cNvSpPr/>
          <p:nvPr/>
        </p:nvSpPr>
        <p:spPr>
          <a:xfrm>
            <a:off x="777240" y="5193792"/>
            <a:ext cx="1060704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4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on AutoYugg are exhibiting decision-stage behavior — the highest-value segment for OLA's sales team. They arrive pre-qualified.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6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347472"/>
          </a:xfrm>
          <a:prstGeom prst="rect">
            <a:avLst/>
          </a:prstGeom>
          <a:solidFill>
            <a:srgbClr val="6B1219"/>
          </a:solidFill>
          <a:ln w="12700">
            <a:solidFill>
              <a:srgbClr val="6B1219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2011680" cy="347472"/>
          </a:xfrm>
          <a:prstGeom prst="rect">
            <a:avLst/>
          </a:prstGeom>
          <a:solidFill>
            <a:srgbClr val="5A0F15"/>
          </a:solidFill>
          <a:ln w="12700">
            <a:solidFill>
              <a:srgbClr val="5A0F1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" y="0"/>
            <a:ext cx="104607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1155802" y="0"/>
            <a:ext cx="85587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F5E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× OLA Electric</a:t>
            </a:r>
            <a:endParaRPr lang="en-US" sz="750" dirty="0"/>
          </a:p>
        </p:txBody>
      </p:sp>
      <p:sp>
        <p:nvSpPr>
          <p:cNvPr id="6" name="Shape 4"/>
          <p:cNvSpPr/>
          <p:nvPr/>
        </p:nvSpPr>
        <p:spPr>
          <a:xfrm>
            <a:off x="2011680" y="45720"/>
            <a:ext cx="0" cy="256032"/>
          </a:xfrm>
          <a:prstGeom prst="line">
            <a:avLst/>
          </a:prstGeom>
          <a:noFill/>
          <a:ln w="12700">
            <a:solidFill>
              <a:srgbClr val="3D0A0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0116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 Shift</a:t>
            </a:r>
            <a:endParaRPr lang="en-US" sz="680" dirty="0"/>
          </a:p>
        </p:txBody>
      </p:sp>
      <p:sp>
        <p:nvSpPr>
          <p:cNvPr id="8" name="Shape 6"/>
          <p:cNvSpPr/>
          <p:nvPr/>
        </p:nvSpPr>
        <p:spPr>
          <a:xfrm>
            <a:off x="31394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394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Funnel Failure</a:t>
            </a:r>
            <a:endParaRPr lang="en-US" sz="680" dirty="0"/>
          </a:p>
        </p:txBody>
      </p:sp>
      <p:sp>
        <p:nvSpPr>
          <p:cNvPr id="10" name="Shape 8"/>
          <p:cNvSpPr/>
          <p:nvPr/>
        </p:nvSpPr>
        <p:spPr>
          <a:xfrm>
            <a:off x="42672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672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Intent Emerges</a:t>
            </a:r>
            <a:endParaRPr lang="en-US" sz="680" dirty="0"/>
          </a:p>
        </p:txBody>
      </p:sp>
      <p:sp>
        <p:nvSpPr>
          <p:cNvPr id="12" name="Shape 10"/>
          <p:cNvSpPr/>
          <p:nvPr/>
        </p:nvSpPr>
        <p:spPr>
          <a:xfrm>
            <a:off x="53949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3949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Layer</a:t>
            </a:r>
            <a:endParaRPr lang="en-US" sz="680" dirty="0"/>
          </a:p>
        </p:txBody>
      </p:sp>
      <p:sp>
        <p:nvSpPr>
          <p:cNvPr id="14" name="Shape 12"/>
          <p:cNvSpPr/>
          <p:nvPr/>
        </p:nvSpPr>
        <p:spPr>
          <a:xfrm>
            <a:off x="652272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52272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Solution</a:t>
            </a:r>
            <a:endParaRPr lang="en-US" sz="680" dirty="0"/>
          </a:p>
        </p:txBody>
      </p:sp>
      <p:sp>
        <p:nvSpPr>
          <p:cNvPr id="16" name="Shape 14"/>
          <p:cNvSpPr/>
          <p:nvPr/>
        </p:nvSpPr>
        <p:spPr>
          <a:xfrm>
            <a:off x="765048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65048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It Works</a:t>
            </a:r>
            <a:endParaRPr lang="en-US" sz="680" dirty="0"/>
          </a:p>
        </p:txBody>
      </p:sp>
      <p:sp>
        <p:nvSpPr>
          <p:cNvPr id="18" name="Shape 16"/>
          <p:cNvSpPr/>
          <p:nvPr/>
        </p:nvSpPr>
        <p:spPr>
          <a:xfrm>
            <a:off x="877824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77824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Delivery</a:t>
            </a:r>
            <a:endParaRPr lang="en-US" sz="680" dirty="0"/>
          </a:p>
        </p:txBody>
      </p:sp>
      <p:sp>
        <p:nvSpPr>
          <p:cNvPr id="20" name="Shape 18"/>
          <p:cNvSpPr/>
          <p:nvPr/>
        </p:nvSpPr>
        <p:spPr>
          <a:xfrm>
            <a:off x="990600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90600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spc="10" kern="0" dirty="0">
                <a:solidFill>
                  <a:srgbClr val="D492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Proof</a:t>
            </a:r>
            <a:endParaRPr lang="en-US" sz="680" dirty="0"/>
          </a:p>
        </p:txBody>
      </p:sp>
      <p:sp>
        <p:nvSpPr>
          <p:cNvPr id="22" name="Shape 20"/>
          <p:cNvSpPr/>
          <p:nvPr/>
        </p:nvSpPr>
        <p:spPr>
          <a:xfrm>
            <a:off x="11033760" y="0"/>
            <a:ext cx="1127760" cy="347472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1070336" y="310896"/>
            <a:ext cx="1054608" cy="36576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1033760" y="54864"/>
            <a:ext cx="0" cy="237744"/>
          </a:xfrm>
          <a:prstGeom prst="line">
            <a:avLst/>
          </a:prstGeom>
          <a:noFill/>
          <a:ln w="5080">
            <a:solidFill>
              <a:srgbClr val="3D0A0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1033760" y="0"/>
            <a:ext cx="112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80" b="1" spc="1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680" dirty="0"/>
          </a:p>
        </p:txBody>
      </p:sp>
      <p:sp>
        <p:nvSpPr>
          <p:cNvPr id="26" name="Text 24"/>
          <p:cNvSpPr/>
          <p:nvPr/>
        </p:nvSpPr>
        <p:spPr>
          <a:xfrm>
            <a:off x="548640" y="402336"/>
            <a:ext cx="9144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3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ASK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0" y="6675120"/>
            <a:ext cx="12161520" cy="182880"/>
          </a:xfrm>
          <a:prstGeom prst="rect">
            <a:avLst/>
          </a:prstGeom>
          <a:solidFill>
            <a:srgbClr val="F5F6F8"/>
          </a:solidFill>
          <a:ln w="12700">
            <a:solidFill>
              <a:srgbClr val="E9EBEE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20040" y="6675120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AutoYugg × OLA Electric  |  Lead Generation Partnership  |  Confidential</a:t>
            </a:r>
            <a:endParaRPr lang="en-US" sz="650" dirty="0"/>
          </a:p>
        </p:txBody>
      </p:sp>
      <p:sp>
        <p:nvSpPr>
          <p:cNvPr id="29" name="Text 27"/>
          <p:cNvSpPr/>
          <p:nvPr/>
        </p:nvSpPr>
        <p:spPr>
          <a:xfrm>
            <a:off x="11064240" y="6675120"/>
            <a:ext cx="914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6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9</a:t>
            </a:r>
            <a:endParaRPr lang="en-US" sz="650" dirty="0"/>
          </a:p>
        </p:txBody>
      </p:sp>
      <p:sp>
        <p:nvSpPr>
          <p:cNvPr id="30" name="Text 28"/>
          <p:cNvSpPr/>
          <p:nvPr/>
        </p:nvSpPr>
        <p:spPr>
          <a:xfrm>
            <a:off x="548640" y="640080"/>
            <a:ext cx="10972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low-risk pilot. High-intent leads. Early category advantage for OLA.</a:t>
            </a:r>
            <a:endParaRPr lang="en-US" sz="2200" dirty="0"/>
          </a:p>
        </p:txBody>
      </p:sp>
      <p:sp>
        <p:nvSpPr>
          <p:cNvPr id="31" name="Shape 29"/>
          <p:cNvSpPr/>
          <p:nvPr/>
        </p:nvSpPr>
        <p:spPr>
          <a:xfrm>
            <a:off x="548640" y="1280160"/>
            <a:ext cx="11064240" cy="0"/>
          </a:xfrm>
          <a:prstGeom prst="line">
            <a:avLst/>
          </a:prstGeom>
          <a:noFill/>
          <a:ln w="12700">
            <a:solidFill>
              <a:srgbClr val="8B182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02920" y="1389888"/>
            <a:ext cx="525780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02920" y="1389888"/>
            <a:ext cx="525780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02920" y="1389888"/>
            <a:ext cx="45720" cy="294436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580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TERMS</a:t>
            </a:r>
            <a:endParaRPr lang="en-US" sz="750" dirty="0"/>
          </a:p>
        </p:txBody>
      </p:sp>
      <p:sp>
        <p:nvSpPr>
          <p:cNvPr id="36" name="Shape 34"/>
          <p:cNvSpPr/>
          <p:nvPr/>
        </p:nvSpPr>
        <p:spPr>
          <a:xfrm>
            <a:off x="685800" y="1901952"/>
            <a:ext cx="470916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85800" y="1975104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2606040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 days</a:t>
            </a:r>
            <a:endParaRPr lang="en-US" sz="1350" dirty="0"/>
          </a:p>
        </p:txBody>
      </p:sp>
      <p:sp>
        <p:nvSpPr>
          <p:cNvPr id="39" name="Shape 37"/>
          <p:cNvSpPr/>
          <p:nvPr/>
        </p:nvSpPr>
        <p:spPr>
          <a:xfrm>
            <a:off x="685800" y="2651760"/>
            <a:ext cx="470916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85800" y="272491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CPL</a:t>
            </a:r>
            <a:endParaRPr lang="en-US" sz="900" dirty="0"/>
          </a:p>
        </p:txBody>
      </p:sp>
      <p:sp>
        <p:nvSpPr>
          <p:cNvPr id="41" name="Text 39"/>
          <p:cNvSpPr/>
          <p:nvPr/>
        </p:nvSpPr>
        <p:spPr>
          <a:xfrm>
            <a:off x="2606040" y="2724912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₹300 (performance-linked)</a:t>
            </a:r>
            <a:endParaRPr lang="en-US" sz="1350" dirty="0"/>
          </a:p>
        </p:txBody>
      </p:sp>
      <p:sp>
        <p:nvSpPr>
          <p:cNvPr id="42" name="Shape 40"/>
          <p:cNvSpPr/>
          <p:nvPr/>
        </p:nvSpPr>
        <p:spPr>
          <a:xfrm>
            <a:off x="685800" y="3401568"/>
            <a:ext cx="470916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85800" y="3474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CRM integration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2606040" y="347472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within 7 days</a:t>
            </a:r>
            <a:endParaRPr lang="en-US" sz="1350" dirty="0"/>
          </a:p>
        </p:txBody>
      </p:sp>
      <p:sp>
        <p:nvSpPr>
          <p:cNvPr id="45" name="Shape 43"/>
          <p:cNvSpPr/>
          <p:nvPr/>
        </p:nvSpPr>
        <p:spPr>
          <a:xfrm>
            <a:off x="6126480" y="1389888"/>
            <a:ext cx="5532120" cy="2944368"/>
          </a:xfrm>
          <a:prstGeom prst="rect">
            <a:avLst/>
          </a:prstGeom>
          <a:solidFill>
            <a:srgbClr val="FFFFFF"/>
          </a:solidFill>
          <a:ln w="12700">
            <a:solidFill>
              <a:srgbClr val="E9EBEE"/>
            </a:solidFill>
            <a:prstDash val="solid"/>
          </a:ln>
          <a:effectLst>
            <a:outerShdw sx="100000" sy="100000" kx="0" ky="0" algn="bl" rotWithShape="0" blurRad="101600" dist="12700" dir="8100000">
              <a:srgbClr val="000000">
                <a:alpha val="6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6126480" y="1389888"/>
            <a:ext cx="5532120" cy="54864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6126480" y="1389888"/>
            <a:ext cx="45720" cy="294436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6309360" y="1536192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MODEL</a:t>
            </a:r>
            <a:endParaRPr lang="en-US" sz="750" dirty="0"/>
          </a:p>
        </p:txBody>
      </p:sp>
      <p:sp>
        <p:nvSpPr>
          <p:cNvPr id="49" name="Shape 47"/>
          <p:cNvSpPr/>
          <p:nvPr/>
        </p:nvSpPr>
        <p:spPr>
          <a:xfrm>
            <a:off x="6309360" y="1901952"/>
            <a:ext cx="507492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6309360" y="1975104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leads</a:t>
            </a:r>
            <a:endParaRPr lang="en-US" sz="950" dirty="0"/>
          </a:p>
        </p:txBody>
      </p:sp>
      <p:sp>
        <p:nvSpPr>
          <p:cNvPr id="51" name="Text 49"/>
          <p:cNvSpPr/>
          <p:nvPr/>
        </p:nvSpPr>
        <p:spPr>
          <a:xfrm>
            <a:off x="9144000" y="1975104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</a:t>
            </a:r>
            <a:endParaRPr lang="en-US" sz="1300" dirty="0"/>
          </a:p>
        </p:txBody>
      </p:sp>
      <p:sp>
        <p:nvSpPr>
          <p:cNvPr id="52" name="Shape 50"/>
          <p:cNvSpPr/>
          <p:nvPr/>
        </p:nvSpPr>
        <p:spPr>
          <a:xfrm>
            <a:off x="6309360" y="2560320"/>
            <a:ext cx="507492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6309360" y="2633472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High-intent (40%)</a:t>
            </a:r>
            <a:endParaRPr lang="en-US" sz="950" dirty="0"/>
          </a:p>
        </p:txBody>
      </p:sp>
      <p:sp>
        <p:nvSpPr>
          <p:cNvPr id="54" name="Text 52"/>
          <p:cNvSpPr/>
          <p:nvPr/>
        </p:nvSpPr>
        <p:spPr>
          <a:xfrm>
            <a:off x="9144000" y="2633472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~400 qualified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6309360" y="3218688"/>
            <a:ext cx="507492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6309360" y="329184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Conversion (~10%)</a:t>
            </a:r>
            <a:endParaRPr lang="en-US" sz="950" dirty="0"/>
          </a:p>
        </p:txBody>
      </p:sp>
      <p:sp>
        <p:nvSpPr>
          <p:cNvPr id="57" name="Text 55"/>
          <p:cNvSpPr/>
          <p:nvPr/>
        </p:nvSpPr>
        <p:spPr>
          <a:xfrm>
            <a:off x="9144000" y="3291840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41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~40 vehicle sales</a:t>
            </a:r>
            <a:endParaRPr lang="en-US" sz="1300" dirty="0"/>
          </a:p>
        </p:txBody>
      </p:sp>
      <p:sp>
        <p:nvSpPr>
          <p:cNvPr id="58" name="Shape 56"/>
          <p:cNvSpPr/>
          <p:nvPr/>
        </p:nvSpPr>
        <p:spPr>
          <a:xfrm>
            <a:off x="6309360" y="3877056"/>
            <a:ext cx="5074920" cy="0"/>
          </a:xfrm>
          <a:prstGeom prst="line">
            <a:avLst/>
          </a:prstGeom>
          <a:noFill/>
          <a:ln w="6350">
            <a:solidFill>
              <a:srgbClr val="E9EBEE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6309360" y="3950208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9494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potential</a:t>
            </a:r>
            <a:endParaRPr lang="en-US" sz="950" dirty="0"/>
          </a:p>
        </p:txBody>
      </p:sp>
      <p:sp>
        <p:nvSpPr>
          <p:cNvPr id="60" name="Text 58"/>
          <p:cNvSpPr/>
          <p:nvPr/>
        </p:nvSpPr>
        <p:spPr>
          <a:xfrm>
            <a:off x="9144000" y="3950208"/>
            <a:ext cx="2286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₹50L+ / month</a:t>
            </a:r>
            <a:endParaRPr lang="en-US" sz="1500" dirty="0"/>
          </a:p>
        </p:txBody>
      </p:sp>
      <p:sp>
        <p:nvSpPr>
          <p:cNvPr id="61" name="Shape 59"/>
          <p:cNvSpPr/>
          <p:nvPr/>
        </p:nvSpPr>
        <p:spPr>
          <a:xfrm>
            <a:off x="502920" y="4498848"/>
            <a:ext cx="11155680" cy="1115568"/>
          </a:xfrm>
          <a:prstGeom prst="rect">
            <a:avLst/>
          </a:prstGeom>
          <a:solidFill>
            <a:srgbClr val="FDF0F1"/>
          </a:solidFill>
          <a:ln w="12700">
            <a:solidFill>
              <a:srgbClr val="E3EDF9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502920" y="4498848"/>
            <a:ext cx="45720" cy="1115568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5800" y="459028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200" kern="0" dirty="0">
                <a:solidFill>
                  <a:srgbClr val="8B182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STRATEGIC EDGE</a:t>
            </a:r>
            <a:endParaRPr lang="en-US" sz="750" dirty="0"/>
          </a:p>
        </p:txBody>
      </p:sp>
      <p:sp>
        <p:nvSpPr>
          <p:cNvPr id="64" name="Shape 62"/>
          <p:cNvSpPr/>
          <p:nvPr/>
        </p:nvSpPr>
        <p:spPr>
          <a:xfrm>
            <a:off x="685800" y="4901184"/>
            <a:ext cx="91440" cy="91440"/>
          </a:xfrm>
          <a:prstGeom prst="ellipse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877824" y="4864608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First-mover advantage in the discovery layer</a:t>
            </a:r>
            <a:endParaRPr lang="en-US" sz="1200" dirty="0"/>
          </a:p>
        </p:txBody>
      </p:sp>
      <p:sp>
        <p:nvSpPr>
          <p:cNvPr id="66" name="Shape 64"/>
          <p:cNvSpPr/>
          <p:nvPr/>
        </p:nvSpPr>
        <p:spPr>
          <a:xfrm>
            <a:off x="685800" y="5248656"/>
            <a:ext cx="91440" cy="91440"/>
          </a:xfrm>
          <a:prstGeom prst="ellipse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77824" y="5212080"/>
            <a:ext cx="5943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525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Category influence before competition enters</a:t>
            </a:r>
            <a:endParaRPr lang="en-US" sz="1200" dirty="0"/>
          </a:p>
        </p:txBody>
      </p:sp>
      <p:sp>
        <p:nvSpPr>
          <p:cNvPr id="68" name="Shape 66"/>
          <p:cNvSpPr/>
          <p:nvPr/>
        </p:nvSpPr>
        <p:spPr>
          <a:xfrm>
            <a:off x="0" y="5724144"/>
            <a:ext cx="12161520" cy="914400"/>
          </a:xfrm>
          <a:prstGeom prst="rect">
            <a:avLst/>
          </a:prstGeom>
          <a:solidFill>
            <a:srgbClr val="8B1820"/>
          </a:solidFill>
          <a:ln w="12700">
            <a:solidFill>
              <a:srgbClr val="8B1820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48640" y="5724144"/>
            <a:ext cx="11430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not just a new channel — it is control over where EV purchase decisions are made.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AutoYugg × OLA Electric — Lead Generation Partnership</dc:title>
  <dc:subject>PptxGenJS Presentation</dc:subject>
  <dc:creator>PptxGenJS</dc:creator>
  <cp:lastModifiedBy>PptxGenJS</cp:lastModifiedBy>
  <cp:revision>1</cp:revision>
  <dcterms:created xsi:type="dcterms:W3CDTF">2026-06-13T09:09:14Z</dcterms:created>
  <dcterms:modified xsi:type="dcterms:W3CDTF">2026-06-13T09:09:14Z</dcterms:modified>
</cp:coreProperties>
</file>