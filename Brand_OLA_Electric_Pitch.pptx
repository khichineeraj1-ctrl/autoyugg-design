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4864"/>
          </a:xfrm>
          <a:prstGeom prst="rect">
            <a:avLst/>
          </a:prstGeom>
          <a:solidFill>
            <a:srgbClr val="8B1820"/>
          </a:solidFill>
          <a:ln w="12700">
            <a:solidFill>
              <a:srgbClr val="8B1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11680" y="0"/>
            <a:ext cx="0" cy="6858000"/>
          </a:xfrm>
          <a:prstGeom prst="line">
            <a:avLst/>
          </a:prstGeom>
          <a:noFill/>
          <a:ln w="6350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023360" y="0"/>
            <a:ext cx="0" cy="6858000"/>
          </a:xfrm>
          <a:prstGeom prst="line">
            <a:avLst/>
          </a:prstGeom>
          <a:noFill/>
          <a:ln w="6350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35040" y="0"/>
            <a:ext cx="0" cy="6858000"/>
          </a:xfrm>
          <a:prstGeom prst="line">
            <a:avLst/>
          </a:prstGeom>
          <a:noFill/>
          <a:ln w="6350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0" y="0"/>
            <a:ext cx="0" cy="6858000"/>
          </a:xfrm>
          <a:prstGeom prst="line">
            <a:avLst/>
          </a:prstGeom>
          <a:noFill/>
          <a:ln w="6350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5029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[Brand]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2468880" y="804672"/>
            <a:ext cx="109728" cy="109728"/>
          </a:xfrm>
          <a:prstGeom prst="ellipse">
            <a:avLst/>
          </a:prstGeom>
          <a:solidFill>
            <a:srgbClr val="8B1820"/>
          </a:solidFill>
          <a:ln w="12700">
            <a:solidFill>
              <a:srgbClr val="8B18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1430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9494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PARTNERSHIP PROPOSAL  ·  2026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48640" y="1554480"/>
            <a:ext cx="77724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5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auto platform</a:t>
            </a:r>
            <a:endParaRPr lang="en-US" sz="58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5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OLA's buyers</a:t>
            </a:r>
            <a:endParaRPr lang="en-US" sz="58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5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actually use.</a:t>
            </a:r>
            <a:endParaRPr lang="en-US" sz="5800" dirty="0"/>
          </a:p>
        </p:txBody>
      </p:sp>
      <p:sp>
        <p:nvSpPr>
          <p:cNvPr id="12" name="Shape 10"/>
          <p:cNvSpPr/>
          <p:nvPr/>
        </p:nvSpPr>
        <p:spPr>
          <a:xfrm>
            <a:off x="548640" y="4572000"/>
            <a:ext cx="11155680" cy="548640"/>
          </a:xfrm>
          <a:prstGeom prst="rect">
            <a:avLst/>
          </a:prstGeom>
          <a:solidFill>
            <a:srgbClr val="8B1820">
              <a:alpha val="12000"/>
            </a:srgbClr>
          </a:solidFill>
          <a:ln w="12700">
            <a:solidFill>
              <a:srgbClr val="8B1820">
                <a:alpha val="3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57200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new kind of lead generation — built on intent, not impressions.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0789920" y="6309360"/>
            <a:ext cx="320040" cy="320040"/>
          </a:xfrm>
          <a:prstGeom prst="ellipse">
            <a:avLst/>
          </a:prstGeom>
          <a:solidFill>
            <a:srgbClr val="8B1820"/>
          </a:solidFill>
          <a:ln w="12700">
            <a:solidFill>
              <a:srgbClr val="8B182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8B1820"/>
          </a:solidFill>
          <a:ln w="12700">
            <a:solidFill>
              <a:srgbClr val="8B18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8B18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48640" y="68580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Existing platforms were built for a generation that no longer buys.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3520440" cy="3383280"/>
          </a:xfrm>
          <a:prstGeom prst="rect">
            <a:avLst/>
          </a:prstGeom>
          <a:solidFill>
            <a:srgbClr val="F5F6F8"/>
          </a:solidFill>
          <a:ln w="12700">
            <a:solidFill>
              <a:srgbClr val="E9EBEE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04088" y="1947672"/>
            <a:ext cx="3118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8B18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PLATFORM EXPERIENCE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04088" y="2258568"/>
            <a:ext cx="3118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Cluttered, ad-heavy UIs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04088" y="2990088"/>
            <a:ext cx="3118104" cy="0"/>
          </a:xfrm>
          <a:prstGeom prst="line">
            <a:avLst/>
          </a:prstGeom>
          <a:noFill/>
          <a:ln w="6350">
            <a:solidFill>
              <a:srgbClr val="E9EB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3154680"/>
            <a:ext cx="311810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252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BikeDekho, CarDekho, ZigWheels were designed in 2010. They're drowning in banner ads, pop-ups, and lead forms. Gen Z bounces in under 8 seconds.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1691640"/>
            <a:ext cx="3520440" cy="3383280"/>
          </a:xfrm>
          <a:prstGeom prst="rect">
            <a:avLst/>
          </a:prstGeom>
          <a:solidFill>
            <a:srgbClr val="1A1410"/>
          </a:solidFill>
          <a:ln w="12700">
            <a:solidFill>
              <a:srgbClr val="1A1410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7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498848" y="1947672"/>
            <a:ext cx="3118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B5252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 QUALITY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498848" y="2258568"/>
            <a:ext cx="3118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Intent-blind lead capture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498848" y="2990088"/>
            <a:ext cx="3118104" cy="0"/>
          </a:xfrm>
          <a:prstGeom prst="line">
            <a:avLst/>
          </a:prstGeom>
          <a:noFill/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98848" y="3154680"/>
            <a:ext cx="311810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D0CCC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platform sells the same form-fill lead — no signal on purchase urgency, budget seriousness, or model preference. OLA's sales team calls cold leads all day.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92440" y="1691640"/>
            <a:ext cx="3520440" cy="3383280"/>
          </a:xfrm>
          <a:prstGeom prst="rect">
            <a:avLst/>
          </a:prstGeom>
          <a:solidFill>
            <a:srgbClr val="F5F6F8"/>
          </a:solidFill>
          <a:ln w="12700">
            <a:solidFill>
              <a:srgbClr val="E9EBEE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7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293608" y="1947672"/>
            <a:ext cx="3118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8B18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AUDIENCE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8293608" y="2258568"/>
            <a:ext cx="3118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Missing 18–30 entirely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293608" y="2990088"/>
            <a:ext cx="3118104" cy="0"/>
          </a:xfrm>
          <a:prstGeom prst="line">
            <a:avLst/>
          </a:prstGeom>
          <a:noFill/>
          <a:ln w="6350">
            <a:solidFill>
              <a:srgbClr val="E9EB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93608" y="3154680"/>
            <a:ext cx="311810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252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India's 500M-strong Gen Z cohort discovers everything via swipe, scroll, and curated feeds. The old portals have no product for this behaviour. Your buyer isn't there.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53035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949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market has grown. The platforms haven't.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8B1820"/>
          </a:solidFill>
          <a:ln w="12700">
            <a:solidFill>
              <a:srgbClr val="8B18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8B18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PLATFORM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India's first editorial-grade auto discovery platform.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5252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from the ground up for how India's next generation researches, compares, and decides on vehicles. Not a portal — a discovery experience.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8346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B18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4,800+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34015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2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vehicle listings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28346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B18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423160" y="34015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2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expert editors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297680" y="28346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B18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500+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297680" y="34015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2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editorial reviews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5577840" cy="0"/>
          </a:xfrm>
          <a:prstGeom prst="line">
            <a:avLst/>
          </a:prstGeom>
          <a:noFill/>
          <a:ln w="6350">
            <a:solidFill>
              <a:srgbClr val="E9EB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404164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41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🚗  Cars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44074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2,400+ models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423160" y="404164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41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🏍  Bikes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423160" y="44074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1,800+ models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297680" y="404164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41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🚛  Commercial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297680" y="44074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600+ models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46520" y="320040"/>
            <a:ext cx="5349240" cy="6217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  <a:prstDash val="solid"/>
          </a:ln>
          <a:effectLst>
            <a:outerShdw sx="100000" sy="100000" kx="0" ky="0" algn="bl" rotWithShape="0" blurRad="203200" dist="508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46520" y="320040"/>
            <a:ext cx="5349240" cy="347472"/>
          </a:xfrm>
          <a:prstGeom prst="rect">
            <a:avLst/>
          </a:prstGeom>
          <a:solidFill>
            <a:srgbClr val="F0F0F2"/>
          </a:solidFill>
          <a:ln w="12700">
            <a:solidFill>
              <a:srgbClr val="E9EB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3680" y="448056"/>
            <a:ext cx="109728" cy="109728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48272" y="448056"/>
            <a:ext cx="109728" cy="109728"/>
          </a:xfrm>
          <a:prstGeom prst="ellipse">
            <a:avLst/>
          </a:prstGeom>
          <a:solidFill>
            <a:srgbClr val="FFD93D"/>
          </a:solidFill>
          <a:ln w="12700">
            <a:solidFill>
              <a:srgbClr val="FFD93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12864" y="448056"/>
            <a:ext cx="109728" cy="109728"/>
          </a:xfrm>
          <a:prstGeom prst="ellipse">
            <a:avLst/>
          </a:prstGeom>
          <a:solidFill>
            <a:srgbClr val="6BCB77"/>
          </a:solidFill>
          <a:ln w="12700">
            <a:solidFill>
              <a:srgbClr val="6BCB7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46520" y="667512"/>
            <a:ext cx="5349240" cy="36576"/>
          </a:xfrm>
          <a:prstGeom prst="rect">
            <a:avLst/>
          </a:prstGeom>
          <a:solidFill>
            <a:srgbClr val="8B1820"/>
          </a:solidFill>
          <a:ln w="12700">
            <a:solidFill>
              <a:srgbClr val="8B182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46520" y="704088"/>
            <a:ext cx="53492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0F0F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83680" y="70408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[Brand].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955280" y="70408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2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New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723376" y="70408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2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Upcoming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491472" y="70408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2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Compare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259568" y="70408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2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News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027664" y="70408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2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446520" y="1161288"/>
            <a:ext cx="5349240" cy="1005840"/>
          </a:xfrm>
          <a:prstGeom prst="rect">
            <a:avLst/>
          </a:prstGeom>
          <a:solidFill>
            <a:srgbClr val="F5F6F8"/>
          </a:solidFill>
          <a:ln w="12700">
            <a:solidFill>
              <a:srgbClr val="F0F0F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0" y="12527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 your next bike with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583680" y="15727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18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confidence.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583680" y="23317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8B18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TRENDING  ↑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6583680" y="2651760"/>
            <a:ext cx="1508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7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583680" y="2651760"/>
            <a:ext cx="1508760" cy="566928"/>
          </a:xfrm>
          <a:prstGeom prst="rect">
            <a:avLst/>
          </a:prstGeom>
          <a:solidFill>
            <a:srgbClr val="F5F6F8"/>
          </a:solidFill>
          <a:ln w="12700">
            <a:solidFill>
              <a:srgbClr val="E9EBE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75120" y="270662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8B18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NEW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6583680" y="324612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OLA S1 Pro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583680" y="356616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↑ 201% MoM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8247888" y="2651760"/>
            <a:ext cx="1508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7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8247888" y="2651760"/>
            <a:ext cx="1508760" cy="566928"/>
          </a:xfrm>
          <a:prstGeom prst="rect">
            <a:avLst/>
          </a:prstGeom>
          <a:solidFill>
            <a:srgbClr val="F5F6F8"/>
          </a:solidFill>
          <a:ln w="12700">
            <a:solidFill>
              <a:srgbClr val="E9EBE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39328" y="270662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8B18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HOT</a:t>
            </a:r>
            <a:endParaRPr lang="en-US" sz="650" dirty="0"/>
          </a:p>
        </p:txBody>
      </p:sp>
      <p:sp>
        <p:nvSpPr>
          <p:cNvPr id="44" name="Text 42"/>
          <p:cNvSpPr/>
          <p:nvPr/>
        </p:nvSpPr>
        <p:spPr>
          <a:xfrm>
            <a:off x="8247888" y="324612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Ather 450X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8247888" y="356616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↑ 142% MoM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9912096" y="2651760"/>
            <a:ext cx="1508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7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9912096" y="2651760"/>
            <a:ext cx="1508760" cy="566928"/>
          </a:xfrm>
          <a:prstGeom prst="rect">
            <a:avLst/>
          </a:prstGeom>
          <a:solidFill>
            <a:srgbClr val="F5F6F8"/>
          </a:solidFill>
          <a:ln w="12700">
            <a:solidFill>
              <a:srgbClr val="E9EBE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0003536" y="270662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252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RISING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9912096" y="324612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TVS iQube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9912096" y="356616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↑ 87% MoM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446520" y="4160520"/>
            <a:ext cx="5349240" cy="685800"/>
          </a:xfrm>
          <a:prstGeom prst="rect">
            <a:avLst/>
          </a:prstGeom>
          <a:solidFill>
            <a:srgbClr val="8B1820"/>
          </a:solidFill>
          <a:ln w="12700">
            <a:solidFill>
              <a:srgbClr val="8B182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29400" y="416052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Your Bike  →  Find your perfect match in 6 steps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6583680" y="49834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8B18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EDITOR'S PICKS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6583680" y="5303520"/>
            <a:ext cx="1508760" cy="347472"/>
          </a:xfrm>
          <a:prstGeom prst="rect">
            <a:avLst/>
          </a:prstGeom>
          <a:solidFill>
            <a:srgbClr val="F5F6F8"/>
          </a:solidFill>
          <a:ln w="12700">
            <a:solidFill>
              <a:srgbClr val="E9EBE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83680" y="5303520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 range warriors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8247888" y="5303520"/>
            <a:ext cx="1508760" cy="347472"/>
          </a:xfrm>
          <a:prstGeom prst="rect">
            <a:avLst/>
          </a:prstGeom>
          <a:solidFill>
            <a:srgbClr val="F5F6F8"/>
          </a:solidFill>
          <a:ln w="12700">
            <a:solidFill>
              <a:srgbClr val="E9EBE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247888" y="5303520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First bike under ₹1L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9912096" y="5303520"/>
            <a:ext cx="1508760" cy="347472"/>
          </a:xfrm>
          <a:prstGeom prst="rect">
            <a:avLst/>
          </a:prstGeom>
          <a:solidFill>
            <a:srgbClr val="F5F6F8"/>
          </a:solidFill>
          <a:ln w="12700">
            <a:solidFill>
              <a:srgbClr val="E9EBE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912096" y="5303520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 300cc+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8B1820"/>
          </a:solidFill>
          <a:ln w="12700">
            <a:solidFill>
              <a:srgbClr val="8B18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8B18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BUYER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OLA's actual buyer is Gen Z — and they research differently.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2606040" cy="2286000"/>
          </a:xfrm>
          <a:prstGeom prst="rect">
            <a:avLst/>
          </a:prstGeom>
          <a:solidFill>
            <a:srgbClr val="8B1820"/>
          </a:solidFill>
          <a:ln w="12700">
            <a:solidFill>
              <a:srgbClr val="8B1820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67512" y="2011680"/>
            <a:ext cx="2276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72%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67512" y="2862072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C0C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research on mobile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67512" y="3246120"/>
            <a:ext cx="22768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D0C8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 journey from discovery to test ride booking happens on phone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1783080"/>
            <a:ext cx="2606040" cy="2286000"/>
          </a:xfrm>
          <a:prstGeom prst="rect">
            <a:avLst/>
          </a:prstGeom>
          <a:solidFill>
            <a:srgbClr val="F5F6F8"/>
          </a:solidFill>
          <a:ln w="12700">
            <a:solidFill>
              <a:srgbClr val="E9EBEE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7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56432" y="2011680"/>
            <a:ext cx="2276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8B18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4.5x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3456432" y="2862072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41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pages per session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456432" y="3246120"/>
            <a:ext cx="22768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5252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They compare deeply — specs, reviews, owner opinions, EMI — before deciding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80760" y="1783080"/>
            <a:ext cx="2606040" cy="2286000"/>
          </a:xfrm>
          <a:prstGeom prst="rect">
            <a:avLst/>
          </a:prstGeom>
          <a:solidFill>
            <a:srgbClr val="F5F6F8"/>
          </a:solidFill>
          <a:ln w="12700">
            <a:solidFill>
              <a:srgbClr val="E9EBEE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7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45352" y="2011680"/>
            <a:ext cx="2276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8B18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68%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6245352" y="2862072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41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influenced by peer reviews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45352" y="3246120"/>
            <a:ext cx="22768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5252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Trusts real owner opinions more than manufacturer claims or ads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869680" y="1783080"/>
            <a:ext cx="2606040" cy="2286000"/>
          </a:xfrm>
          <a:prstGeom prst="rect">
            <a:avLst/>
          </a:prstGeom>
          <a:solidFill>
            <a:srgbClr val="F5F6F8"/>
          </a:solidFill>
          <a:ln w="12700">
            <a:solidFill>
              <a:srgbClr val="E9EBEE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7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034272" y="2011680"/>
            <a:ext cx="2276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8B18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 8 sec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9034272" y="2862072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41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bounce on ad-heavy pages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034272" y="3246120"/>
            <a:ext cx="22768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5252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Old portal UX triggers immediate back-button. They won't wait for ads to load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0292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18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OLA'S GEN Z BUYER DISCOVERS A SCOOTER TODAY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02920" y="4663440"/>
            <a:ext cx="2148840" cy="1188720"/>
          </a:xfrm>
          <a:prstGeom prst="rect">
            <a:avLst/>
          </a:prstGeom>
          <a:solidFill>
            <a:srgbClr val="F5F6F8"/>
          </a:solidFill>
          <a:ln w="12700">
            <a:solidFill>
              <a:srgbClr val="E9EBE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71600" y="4727448"/>
            <a:ext cx="384048" cy="384048"/>
          </a:xfrm>
          <a:prstGeom prst="ellipse">
            <a:avLst/>
          </a:prstGeom>
          <a:solidFill>
            <a:srgbClr val="8B1820"/>
          </a:solidFill>
          <a:ln w="12700">
            <a:solidFill>
              <a:srgbClr val="8B182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71600" y="4727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94360" y="5175504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Sees a Reel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94360" y="5522976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94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Instagram / YouTube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651760" y="5257800"/>
            <a:ext cx="164592" cy="0"/>
          </a:xfrm>
          <a:prstGeom prst="line">
            <a:avLst/>
          </a:prstGeom>
          <a:noFill/>
          <a:ln w="12700">
            <a:solidFill>
              <a:srgbClr val="E9EBE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816352" y="4663440"/>
            <a:ext cx="2148840" cy="1188720"/>
          </a:xfrm>
          <a:prstGeom prst="rect">
            <a:avLst/>
          </a:prstGeom>
          <a:solidFill>
            <a:srgbClr val="F5F6F8"/>
          </a:solidFill>
          <a:ln w="12700">
            <a:solidFill>
              <a:srgbClr val="E9EB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85032" y="4727448"/>
            <a:ext cx="384048" cy="384048"/>
          </a:xfrm>
          <a:prstGeom prst="ellipse">
            <a:avLst/>
          </a:prstGeom>
          <a:solidFill>
            <a:srgbClr val="8B1820"/>
          </a:solidFill>
          <a:ln w="12700">
            <a:solidFill>
              <a:srgbClr val="8B182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85032" y="4727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907792" y="5175504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Googles specs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2907792" y="5522976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94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Bounces off old portals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965192" y="5257800"/>
            <a:ext cx="164592" cy="0"/>
          </a:xfrm>
          <a:prstGeom prst="line">
            <a:avLst/>
          </a:prstGeom>
          <a:noFill/>
          <a:ln w="12700">
            <a:solidFill>
              <a:srgbClr val="E9EBE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129784" y="4663440"/>
            <a:ext cx="2148840" cy="1188720"/>
          </a:xfrm>
          <a:prstGeom prst="rect">
            <a:avLst/>
          </a:prstGeom>
          <a:solidFill>
            <a:srgbClr val="F5F6F8"/>
          </a:solidFill>
          <a:ln w="12700">
            <a:solidFill>
              <a:srgbClr val="E9EBE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98464" y="4727448"/>
            <a:ext cx="384048" cy="384048"/>
          </a:xfrm>
          <a:prstGeom prst="ellipse">
            <a:avLst/>
          </a:prstGeom>
          <a:solidFill>
            <a:srgbClr val="8B1820"/>
          </a:solidFill>
          <a:ln w="12700">
            <a:solidFill>
              <a:srgbClr val="8B182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98464" y="4727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221224" y="5175504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Finds [Brand].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5221224" y="5522976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94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Reads, compares, saved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278624" y="5257800"/>
            <a:ext cx="164592" cy="0"/>
          </a:xfrm>
          <a:prstGeom prst="line">
            <a:avLst/>
          </a:prstGeom>
          <a:noFill/>
          <a:ln w="12700">
            <a:solidFill>
              <a:srgbClr val="E9EBE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443216" y="4663440"/>
            <a:ext cx="2148840" cy="1188720"/>
          </a:xfrm>
          <a:prstGeom prst="rect">
            <a:avLst/>
          </a:prstGeom>
          <a:solidFill>
            <a:srgbClr val="F5F6F8"/>
          </a:solidFill>
          <a:ln w="12700">
            <a:solidFill>
              <a:srgbClr val="E9EBE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311896" y="4727448"/>
            <a:ext cx="384048" cy="384048"/>
          </a:xfrm>
          <a:prstGeom prst="ellipse">
            <a:avLst/>
          </a:prstGeom>
          <a:solidFill>
            <a:srgbClr val="8B1820"/>
          </a:solidFill>
          <a:ln w="12700">
            <a:solidFill>
              <a:srgbClr val="8B182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311896" y="4727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534656" y="5175504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Uses BYB wizard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7534656" y="5522976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94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Intent scored: HOT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9592056" y="5257800"/>
            <a:ext cx="164592" cy="0"/>
          </a:xfrm>
          <a:prstGeom prst="line">
            <a:avLst/>
          </a:prstGeom>
          <a:noFill/>
          <a:ln w="12700">
            <a:solidFill>
              <a:srgbClr val="E9EBE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756648" y="4663440"/>
            <a:ext cx="2148840" cy="1188720"/>
          </a:xfrm>
          <a:prstGeom prst="rect">
            <a:avLst/>
          </a:prstGeom>
          <a:solidFill>
            <a:srgbClr val="8B1820"/>
          </a:solidFill>
          <a:ln w="12700">
            <a:solidFill>
              <a:srgbClr val="8B182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625328" y="4727448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0625328" y="4727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B18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9848088" y="5175504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Lead → OLA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9848088" y="5522976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5C0C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Real-time API delivery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8B1820"/>
          </a:solidFill>
          <a:ln w="12700">
            <a:solidFill>
              <a:srgbClr val="8B18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8B18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MAKES US DIFFERENT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features no competitor has shipped. Not even close.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1536192"/>
            <a:ext cx="553212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67512" y="16824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18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09160" y="1719072"/>
            <a:ext cx="1170432" cy="237744"/>
          </a:xfrm>
          <a:prstGeom prst="rect">
            <a:avLst/>
          </a:prstGeom>
          <a:solidFill>
            <a:srgbClr val="FAF0F0"/>
          </a:solidFill>
          <a:ln w="12700">
            <a:solidFill>
              <a:srgbClr val="E0B0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09160" y="1719072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8B18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DISCOVERY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1216152" y="1673352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Real-Time Momentum Scores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67512" y="2157984"/>
            <a:ext cx="5202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5252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listing shows ↑ MoM% search interest. OLA S1 Pro Gen 3 at ↑ 201% MoM signals buyer rush — exactly like a social trending indicator. Gen Z reads this instantly.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3227832"/>
            <a:ext cx="553212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7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67512" y="33741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18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709160" y="3410712"/>
            <a:ext cx="1170432" cy="237744"/>
          </a:xfrm>
          <a:prstGeom prst="rect">
            <a:avLst/>
          </a:prstGeom>
          <a:solidFill>
            <a:srgbClr val="FAF0F0"/>
          </a:solidFill>
          <a:ln w="12700">
            <a:solidFill>
              <a:srgbClr val="E0B0B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9160" y="3410712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8B18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INTENT ENGINE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216152" y="3364992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Your Bike Wizard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67512" y="3849624"/>
            <a:ext cx="5202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5252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6-step conversational finder — not a filter form. Users declare priorities, budget, use case. The wizard scores their intent: hot / warm / cool / cold. OLA gets only hot leads.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4919472"/>
            <a:ext cx="553212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7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67512" y="50657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18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709160" y="5102352"/>
            <a:ext cx="1170432" cy="237744"/>
          </a:xfrm>
          <a:prstGeom prst="rect">
            <a:avLst/>
          </a:prstGeom>
          <a:solidFill>
            <a:srgbClr val="FAF0F0"/>
          </a:solidFill>
          <a:ln w="12700">
            <a:solidFill>
              <a:srgbClr val="E0B0B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09160" y="5102352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8B18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CURATION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1216152" y="5056632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Editor-Curated Collections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67512" y="5541264"/>
            <a:ext cx="5202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5252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"EV Range Warriors", "First Bike under ₹1L" — themed shortlists by our 8 expert editors. Users browse by mood/need, not brand. OLA can own the EV collection category.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0" y="1536192"/>
            <a:ext cx="53492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7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65392" y="16824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18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0424160" y="1719072"/>
            <a:ext cx="1170432" cy="237744"/>
          </a:xfrm>
          <a:prstGeom prst="rect">
            <a:avLst/>
          </a:prstGeom>
          <a:solidFill>
            <a:srgbClr val="FAF0F0"/>
          </a:solidFill>
          <a:ln w="12700">
            <a:solidFill>
              <a:srgbClr val="E0B0B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24160" y="1719072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8B18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7114032" y="1673352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Editorial Independence, Publicly Stated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565392" y="2157984"/>
            <a:ext cx="50200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5252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 editors page declares: "advertisers have zero editorial influence." This builds trust that drives read depth. Avg. 4.5 pages/session vs. industry 1.8. Readers actually stay.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0" y="3227832"/>
            <a:ext cx="53492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7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65392" y="33741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18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10424160" y="3410712"/>
            <a:ext cx="1170432" cy="237744"/>
          </a:xfrm>
          <a:prstGeom prst="rect">
            <a:avLst/>
          </a:prstGeom>
          <a:solidFill>
            <a:srgbClr val="FAF0F0"/>
          </a:solidFill>
          <a:ln w="12700">
            <a:solidFill>
              <a:srgbClr val="E0B0B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424160" y="3410712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8B18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PURCHASE SIGNAL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7114032" y="3364992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City-Level On-Road Price Calculator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6565392" y="3849624"/>
            <a:ext cx="50200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5252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RTO, insurance, dealer charges — broken down by city. Users who check ORP are 3x more likely to be within 90 days of purchase. Every ORP view is a warm signal.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8B1820"/>
          </a:solidFill>
          <a:ln w="12700">
            <a:solidFill>
              <a:srgbClr val="8B18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8B18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INTENT ENGINE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Your Bike — not a form, an intent machine.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494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6-STEP WIZARD JOURNEY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02920" y="1874520"/>
            <a:ext cx="2697480" cy="1188720"/>
          </a:xfrm>
          <a:prstGeom prst="rect">
            <a:avLst/>
          </a:prstGeom>
          <a:solidFill>
            <a:srgbClr val="1F1A18"/>
          </a:solidFill>
          <a:ln w="12700">
            <a:solidFill>
              <a:srgbClr val="3330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200253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18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67512" y="2377440"/>
            <a:ext cx="2368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Path choice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67512" y="269748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94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"I know my bike" or "Help me discover"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3246120"/>
            <a:ext cx="2697480" cy="1188720"/>
          </a:xfrm>
          <a:prstGeom prst="rect">
            <a:avLst/>
          </a:prstGeom>
          <a:solidFill>
            <a:srgbClr val="1F1A18"/>
          </a:solidFill>
          <a:ln w="12700">
            <a:solidFill>
              <a:srgbClr val="3330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" y="337413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18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67512" y="3749040"/>
            <a:ext cx="2368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Priorities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" y="406908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94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Mileage / Performance / Comfort / Cost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02920" y="4617720"/>
            <a:ext cx="2697480" cy="1188720"/>
          </a:xfrm>
          <a:prstGeom prst="rect">
            <a:avLst/>
          </a:prstGeom>
          <a:solidFill>
            <a:srgbClr val="1F1A18"/>
          </a:solidFill>
          <a:ln w="12700">
            <a:solidFill>
              <a:srgbClr val="3330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7512" y="474573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18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67512" y="5120640"/>
            <a:ext cx="2368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Budget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67512" y="544068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94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Exact range + EMI willingness captured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429000" y="1874520"/>
            <a:ext cx="2697480" cy="1188720"/>
          </a:xfrm>
          <a:prstGeom prst="rect">
            <a:avLst/>
          </a:prstGeom>
          <a:solidFill>
            <a:srgbClr val="1F1A18"/>
          </a:solidFill>
          <a:ln w="12700">
            <a:solidFill>
              <a:srgbClr val="33302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593592" y="200253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18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593592" y="2377440"/>
            <a:ext cx="2368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 case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593592" y="269748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94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Daily commute / Weekend ride / Long tours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429000" y="3246120"/>
            <a:ext cx="2697480" cy="1188720"/>
          </a:xfrm>
          <a:prstGeom prst="rect">
            <a:avLst/>
          </a:prstGeom>
          <a:solidFill>
            <a:srgbClr val="1F1A18"/>
          </a:solidFill>
          <a:ln w="12700">
            <a:solidFill>
              <a:srgbClr val="33302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93592" y="337413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18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593592" y="3749040"/>
            <a:ext cx="2368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593592" y="406908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94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Routes lead to nearest OLA experience centre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429000" y="4617720"/>
            <a:ext cx="2697480" cy="1188720"/>
          </a:xfrm>
          <a:prstGeom prst="rect">
            <a:avLst/>
          </a:prstGeom>
          <a:solidFill>
            <a:srgbClr val="8B1820"/>
          </a:solidFill>
          <a:ln w="12700">
            <a:solidFill>
              <a:srgbClr val="8B182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93592" y="474573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593592" y="5120640"/>
            <a:ext cx="2368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Matches + Score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593592" y="544068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C0C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 3 bikes ranked, intent tier assigned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400800" y="1417320"/>
            <a:ext cx="5394960" cy="5166360"/>
          </a:xfrm>
          <a:prstGeom prst="rect">
            <a:avLst/>
          </a:prstGeom>
          <a:solidFill>
            <a:srgbClr val="1F1A18"/>
          </a:solidFill>
          <a:ln w="12700">
            <a:solidFill>
              <a:srgbClr val="33302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0" y="157276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494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 ROUTING BY INTENT TIER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6583680" y="2011680"/>
            <a:ext cx="36576" cy="914400"/>
          </a:xfrm>
          <a:prstGeom prst="rect">
            <a:avLst/>
          </a:prstGeom>
          <a:solidFill>
            <a:srgbClr val="8B1820"/>
          </a:solidFill>
          <a:ln w="12700">
            <a:solidFill>
              <a:srgbClr val="8B182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20840" y="205740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18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HOT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20840" y="240487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94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 90–100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7726680" y="20574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D0CCC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Ready to buy in &lt;30 days. Specific model, budget confirmed, city set.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26680" y="2606040"/>
            <a:ext cx="1371600" cy="219456"/>
          </a:xfrm>
          <a:prstGeom prst="rect">
            <a:avLst/>
          </a:prstGeom>
          <a:solidFill>
            <a:srgbClr val="1A1610"/>
          </a:solidFill>
          <a:ln w="12700">
            <a:solidFill>
              <a:srgbClr val="33302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26680" y="260604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18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 Immediate sales call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6583680" y="3090672"/>
            <a:ext cx="36576" cy="9144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20840" y="3136392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20840" y="348386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94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 60–89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7726680" y="313639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D0CCC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Actively shortlisting. 30–90 day window. High engagement on ORP tool.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726680" y="3685032"/>
            <a:ext cx="1371600" cy="219456"/>
          </a:xfrm>
          <a:prstGeom prst="rect">
            <a:avLst/>
          </a:prstGeom>
          <a:solidFill>
            <a:srgbClr val="1A1610"/>
          </a:solidFill>
          <a:ln w="12700">
            <a:solidFill>
              <a:srgbClr val="33302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726680" y="368503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94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 Nurture sequence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6583680" y="4169664"/>
            <a:ext cx="36576" cy="91440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720840" y="4215384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4E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COOL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720840" y="456285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94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 30–59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726680" y="4215384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D0CCC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Exploring options. No model decision yet. Good for retargeting.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7726680" y="4764024"/>
            <a:ext cx="1371600" cy="219456"/>
          </a:xfrm>
          <a:prstGeom prst="rect">
            <a:avLst/>
          </a:prstGeom>
          <a:solidFill>
            <a:srgbClr val="1A1610"/>
          </a:solidFill>
          <a:ln w="12700">
            <a:solidFill>
              <a:srgbClr val="33302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726680" y="476402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94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 Display retarget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6583680" y="5248656"/>
            <a:ext cx="36576" cy="914400"/>
          </a:xfrm>
          <a:prstGeom prst="rect">
            <a:avLst/>
          </a:prstGeom>
          <a:solidFill>
            <a:srgbClr val="94949C"/>
          </a:solidFill>
          <a:ln w="12700">
            <a:solidFill>
              <a:srgbClr val="94949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20840" y="5294376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4949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COLD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6720840" y="564184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94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 &lt; 30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7726680" y="5294376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D0CCC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Early research. Long conversion cycle. Content marketing touchpoint.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7726680" y="5843016"/>
            <a:ext cx="1371600" cy="219456"/>
          </a:xfrm>
          <a:prstGeom prst="rect">
            <a:avLst/>
          </a:prstGeom>
          <a:solidFill>
            <a:srgbClr val="1A1610"/>
          </a:solidFill>
          <a:ln w="12700">
            <a:solidFill>
              <a:srgbClr val="33302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726680" y="584301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94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 Long-term nurture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6583680" y="63093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18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Only HOT leads go to OLA sales — every other platform sends all of them.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8B1820"/>
          </a:solidFill>
          <a:ln w="12700">
            <a:solidFill>
              <a:srgbClr val="8B18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8B18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OLA ON THE PLATFORM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an OLA Electric buyer does on [Brand]. today — and what we can build for OLA.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164592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ALREADY ON THE PLATFORM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02920" y="2029968"/>
            <a:ext cx="5303520" cy="0"/>
          </a:xfrm>
          <a:prstGeom prst="line">
            <a:avLst/>
          </a:prstGeom>
          <a:noFill/>
          <a:ln w="6350">
            <a:solidFill>
              <a:srgbClr val="F0F0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75688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68680" y="2075688"/>
            <a:ext cx="4892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OLA S1 Pro Gen 3 listing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242316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94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Specs, colours, variants, ₹1.49L pricing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2834640"/>
            <a:ext cx="5303520" cy="0"/>
          </a:xfrm>
          <a:prstGeom prst="line">
            <a:avLst/>
          </a:prstGeom>
          <a:noFill/>
          <a:ln w="6350">
            <a:solidFill>
              <a:srgbClr val="F0F0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88036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68680" y="2880360"/>
            <a:ext cx="4892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Side-by-side comparisons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3227832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94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OLA vs Ather 450X vs TVS iQube — highest-traffic page type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02920" y="3639312"/>
            <a:ext cx="5303520" cy="0"/>
          </a:xfrm>
          <a:prstGeom prst="line">
            <a:avLst/>
          </a:prstGeom>
          <a:noFill/>
          <a:ln w="6350">
            <a:solidFill>
              <a:srgbClr val="F0F0F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685032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68680" y="3685032"/>
            <a:ext cx="4892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 editorial reviews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" y="4032504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94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Dedicated EV editor — 180 reviews, 2.8M reads, 8 yrs experience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443984"/>
            <a:ext cx="5303520" cy="0"/>
          </a:xfrm>
          <a:prstGeom prst="line">
            <a:avLst/>
          </a:prstGeom>
          <a:noFill/>
          <a:ln w="6350">
            <a:solidFill>
              <a:srgbClr val="F0F0F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4489704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68680" y="4489704"/>
            <a:ext cx="4892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"EV range warriors" collection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68680" y="4837176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94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Editor-curated shortlist — OLA naturally features prominently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2920" y="5248656"/>
            <a:ext cx="5303520" cy="0"/>
          </a:xfrm>
          <a:prstGeom prst="line">
            <a:avLst/>
          </a:prstGeom>
          <a:noFill/>
          <a:ln w="6350">
            <a:solidFill>
              <a:srgbClr val="F0F0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5294376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68680" y="5294376"/>
            <a:ext cx="4892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On-road price tool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68680" y="5641848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94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City-specific OLA pricing breakdown ready to activate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172200" y="1508760"/>
            <a:ext cx="0" cy="5029200"/>
          </a:xfrm>
          <a:prstGeom prst="line">
            <a:avLst/>
          </a:prstGeom>
          <a:noFill/>
          <a:ln w="9525">
            <a:solidFill>
              <a:srgbClr val="E9EBE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46520" y="164592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8B18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WE BUILD FOR OLA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6446520" y="2029968"/>
            <a:ext cx="5303520" cy="0"/>
          </a:xfrm>
          <a:prstGeom prst="line">
            <a:avLst/>
          </a:prstGeom>
          <a:noFill/>
          <a:ln w="6350">
            <a:solidFill>
              <a:srgbClr val="F0F0F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46520" y="2075688"/>
            <a:ext cx="36576" cy="411480"/>
          </a:xfrm>
          <a:prstGeom prst="rect">
            <a:avLst/>
          </a:prstGeom>
          <a:solidFill>
            <a:srgbClr val="8B1820"/>
          </a:solidFill>
          <a:ln w="12700">
            <a:solidFill>
              <a:srgbClr val="8B182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01968" y="2075688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Sponsored top-of-search placement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601968" y="242316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94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OLA appears first when any buyer searches for electric scooters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446520" y="2834640"/>
            <a:ext cx="5303520" cy="0"/>
          </a:xfrm>
          <a:prstGeom prst="line">
            <a:avLst/>
          </a:prstGeom>
          <a:noFill/>
          <a:ln w="6350">
            <a:solidFill>
              <a:srgbClr val="F0F0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46520" y="2880360"/>
            <a:ext cx="36576" cy="411480"/>
          </a:xfrm>
          <a:prstGeom prst="rect">
            <a:avLst/>
          </a:prstGeom>
          <a:solidFill>
            <a:srgbClr val="8B1820"/>
          </a:solidFill>
          <a:ln w="12700">
            <a:solidFill>
              <a:srgbClr val="8B182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01968" y="288036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BYB wizard OLA integration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601968" y="322783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94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hot lead who matches OLA's profile is routed directly to OLA's CRM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446520" y="3639312"/>
            <a:ext cx="5303520" cy="0"/>
          </a:xfrm>
          <a:prstGeom prst="line">
            <a:avLst/>
          </a:prstGeom>
          <a:noFill/>
          <a:ln w="6350">
            <a:solidFill>
              <a:srgbClr val="F0F0F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46520" y="3685032"/>
            <a:ext cx="36576" cy="411480"/>
          </a:xfrm>
          <a:prstGeom prst="rect">
            <a:avLst/>
          </a:prstGeom>
          <a:solidFill>
            <a:srgbClr val="8B1820"/>
          </a:solidFill>
          <a:ln w="12700">
            <a:solidFill>
              <a:srgbClr val="8B182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01968" y="368503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OLA brand hub page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601968" y="403250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94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 sub-brand page: all models, on-road prices, test ride CTA, news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446520" y="4443984"/>
            <a:ext cx="5303520" cy="0"/>
          </a:xfrm>
          <a:prstGeom prst="line">
            <a:avLst/>
          </a:prstGeom>
          <a:noFill/>
          <a:ln w="6350">
            <a:solidFill>
              <a:srgbClr val="F0F0F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46520" y="4489704"/>
            <a:ext cx="36576" cy="411480"/>
          </a:xfrm>
          <a:prstGeom prst="rect">
            <a:avLst/>
          </a:prstGeom>
          <a:solidFill>
            <a:srgbClr val="8B1820"/>
          </a:solidFill>
          <a:ln w="12700">
            <a:solidFill>
              <a:srgbClr val="8B182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01968" y="4489704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"EV range warriors" sponsorship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601968" y="483717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94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OLA owns this curated collection — editorial placement, not display ad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446520" y="5248656"/>
            <a:ext cx="5303520" cy="0"/>
          </a:xfrm>
          <a:prstGeom prst="line">
            <a:avLst/>
          </a:prstGeom>
          <a:noFill/>
          <a:ln w="6350">
            <a:solidFill>
              <a:srgbClr val="F0F0F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446520" y="5294376"/>
            <a:ext cx="36576" cy="411480"/>
          </a:xfrm>
          <a:prstGeom prst="rect">
            <a:avLst/>
          </a:prstGeom>
          <a:solidFill>
            <a:srgbClr val="8B1820"/>
          </a:solidFill>
          <a:ln w="12700">
            <a:solidFill>
              <a:srgbClr val="8B182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601968" y="5294376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ride lead capture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601968" y="564184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94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City-mapped to nearest OLA Experience Centre, date + model preference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8B1820"/>
          </a:solidFill>
          <a:ln w="12700">
            <a:solidFill>
              <a:srgbClr val="8B18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8B18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FIRST MOVER CASE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Being our first EV partner isn't a risk. It's a structural advantage.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1719072"/>
            <a:ext cx="53492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719072"/>
            <a:ext cx="45720" cy="2331720"/>
          </a:xfrm>
          <a:prstGeom prst="rect">
            <a:avLst/>
          </a:prstGeom>
          <a:solidFill>
            <a:srgbClr val="8B1820"/>
          </a:solidFill>
          <a:ln w="12700">
            <a:solidFill>
              <a:srgbClr val="8B182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703320" y="1901952"/>
            <a:ext cx="1993392" cy="256032"/>
          </a:xfrm>
          <a:prstGeom prst="rect">
            <a:avLst/>
          </a:prstGeom>
          <a:solidFill>
            <a:srgbClr val="FAF0F0"/>
          </a:solidFill>
          <a:ln w="12700">
            <a:solidFill>
              <a:srgbClr val="E0B0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03320" y="1901952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B18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competing EV ads today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704088" y="19202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 Share of Voice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04088" y="2523744"/>
            <a:ext cx="49469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5252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Ather, TVS, Bajaj have not yet partnered with us. OLA locks the category. Every EV buyer on the platform encounters OLA first — with zero competitive clutter.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309360" y="1719072"/>
            <a:ext cx="53492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309360" y="1719072"/>
            <a:ext cx="45720" cy="2331720"/>
          </a:xfrm>
          <a:prstGeom prst="rect">
            <a:avLst/>
          </a:prstGeom>
          <a:solidFill>
            <a:srgbClr val="8B1820"/>
          </a:solidFill>
          <a:ln w="12700">
            <a:solidFill>
              <a:srgbClr val="8B182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09760" y="1901952"/>
            <a:ext cx="1993392" cy="256032"/>
          </a:xfrm>
          <a:prstGeom prst="rect">
            <a:avLst/>
          </a:prstGeom>
          <a:solidFill>
            <a:srgbClr val="FAF0F0"/>
          </a:solidFill>
          <a:ln w="12700">
            <a:solidFill>
              <a:srgbClr val="E0B0B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09760" y="1901952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B18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Define the category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6510528" y="19202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Brand Imprint on a Rising Platform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510528" y="2523744"/>
            <a:ext cx="49469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5252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Platforms don't stay new for long. The OEM that builds association early owns the mental model. OLA + [Brand]. can become synonymous with Gen Z EV discovery.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4224528"/>
            <a:ext cx="53492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4224528"/>
            <a:ext cx="45720" cy="2331720"/>
          </a:xfrm>
          <a:prstGeom prst="rect">
            <a:avLst/>
          </a:prstGeom>
          <a:solidFill>
            <a:srgbClr val="8B1820"/>
          </a:solidFill>
          <a:ln w="12700">
            <a:solidFill>
              <a:srgbClr val="8B182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03320" y="4407408"/>
            <a:ext cx="1993392" cy="256032"/>
          </a:xfrm>
          <a:prstGeom prst="rect">
            <a:avLst/>
          </a:prstGeom>
          <a:solidFill>
            <a:srgbClr val="FAF0F0"/>
          </a:solidFill>
          <a:ln w="12700">
            <a:solidFill>
              <a:srgbClr val="E0B0B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703320" y="440740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B18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Founding partner status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704088" y="442569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Shape the Product Roadmap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04088" y="5029200"/>
            <a:ext cx="49469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5252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 a founding partner, OLA gets direct input on how EV discovery features evolve — from BYB wizard logic to editorial collection structure. Your data shapes the platform.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309360" y="4224528"/>
            <a:ext cx="53492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7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0" y="4224528"/>
            <a:ext cx="45720" cy="2331720"/>
          </a:xfrm>
          <a:prstGeom prst="rect">
            <a:avLst/>
          </a:prstGeom>
          <a:solidFill>
            <a:srgbClr val="8B1820"/>
          </a:solidFill>
          <a:ln w="12700">
            <a:solidFill>
              <a:srgbClr val="8B182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09760" y="4407408"/>
            <a:ext cx="1993392" cy="256032"/>
          </a:xfrm>
          <a:prstGeom prst="rect">
            <a:avLst/>
          </a:prstGeom>
          <a:solidFill>
            <a:srgbClr val="FAF0F0"/>
          </a:solidFill>
          <a:ln w="12700">
            <a:solidFill>
              <a:srgbClr val="E0B0B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509760" y="440740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B18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&lt; ₹300 CPL guaranteed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6510528" y="442569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Competitive Lead Pricing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510528" y="5029200"/>
            <a:ext cx="49469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5252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Pilot CPL is below ₹300 — guaranteed. As platform traffic grows, CPL will increase. OLA locks in founder pricing for the first 12 months of partnership.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8B1820"/>
          </a:solidFill>
          <a:ln w="12700">
            <a:solidFill>
              <a:srgbClr val="8B18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8B18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PILOT OFFER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90-day pilot. Everything included. No lock-in.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54480"/>
            <a:ext cx="4389120" cy="384048"/>
          </a:xfrm>
          <a:prstGeom prst="rect">
            <a:avLst/>
          </a:prstGeom>
          <a:solidFill>
            <a:srgbClr val="1A1410"/>
          </a:solidFill>
          <a:ln w="12700">
            <a:solidFill>
              <a:srgbClr val="1A141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55448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What's included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74920" y="1554480"/>
            <a:ext cx="3657600" cy="384048"/>
          </a:xfrm>
          <a:prstGeom prst="rect">
            <a:avLst/>
          </a:prstGeom>
          <a:solidFill>
            <a:srgbClr val="1A1410"/>
          </a:solidFill>
          <a:ln w="12700">
            <a:solidFill>
              <a:srgbClr val="1A141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0" y="155448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it does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8915400" y="1554480"/>
            <a:ext cx="1828800" cy="384048"/>
          </a:xfrm>
          <a:prstGeom prst="rect">
            <a:avLst/>
          </a:prstGeom>
          <a:solidFill>
            <a:srgbClr val="1A1410"/>
          </a:solidFill>
          <a:ln w="12700">
            <a:solidFill>
              <a:srgbClr val="1A141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052560" y="1554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Status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1938528"/>
            <a:ext cx="43891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38528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41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OLA brand hub page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74920" y="1938528"/>
            <a:ext cx="36576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0" y="1938528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within 7 days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915400" y="1938528"/>
            <a:ext cx="1828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52560" y="1938528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 Included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2596896"/>
            <a:ext cx="4389120" cy="658368"/>
          </a:xfrm>
          <a:prstGeom prst="rect">
            <a:avLst/>
          </a:prstGeom>
          <a:solidFill>
            <a:srgbClr val="F5F6F8"/>
          </a:solidFill>
          <a:ln w="12700">
            <a:solidFill>
              <a:srgbClr val="E9EB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596896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41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BYB wizard — OLA integration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74920" y="2596896"/>
            <a:ext cx="3657600" cy="658368"/>
          </a:xfrm>
          <a:prstGeom prst="rect">
            <a:avLst/>
          </a:prstGeom>
          <a:solidFill>
            <a:srgbClr val="F5F6F8"/>
          </a:solidFill>
          <a:ln w="12700">
            <a:solidFill>
              <a:srgbClr val="E9EB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12080" y="2596896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HOT leads routed to CRM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915400" y="2596896"/>
            <a:ext cx="1828800" cy="658368"/>
          </a:xfrm>
          <a:prstGeom prst="rect">
            <a:avLst/>
          </a:prstGeom>
          <a:solidFill>
            <a:srgbClr val="F5F6F8"/>
          </a:solidFill>
          <a:ln w="12700">
            <a:solidFill>
              <a:srgbClr val="E9EB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52560" y="2596896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 Included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02920" y="3255264"/>
            <a:ext cx="43891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3255264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41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 ride lead capture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74920" y="3255264"/>
            <a:ext cx="36576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212080" y="3255264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City-mapped, real-time API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915400" y="3255264"/>
            <a:ext cx="1828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052560" y="3255264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 Included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02920" y="3913632"/>
            <a:ext cx="4389120" cy="658368"/>
          </a:xfrm>
          <a:prstGeom prst="rect">
            <a:avLst/>
          </a:prstGeom>
          <a:solidFill>
            <a:srgbClr val="F5F6F8"/>
          </a:solidFill>
          <a:ln w="12700">
            <a:solidFill>
              <a:srgbClr val="E9EBE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3913632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41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"EV range warriors" sponsorship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074920" y="3913632"/>
            <a:ext cx="3657600" cy="658368"/>
          </a:xfrm>
          <a:prstGeom prst="rect">
            <a:avLst/>
          </a:prstGeom>
          <a:solidFill>
            <a:srgbClr val="F5F6F8"/>
          </a:solidFill>
          <a:ln w="12700">
            <a:solidFill>
              <a:srgbClr val="E9EBE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12080" y="3913632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Editor collection ownership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915400" y="3913632"/>
            <a:ext cx="1828800" cy="658368"/>
          </a:xfrm>
          <a:prstGeom prst="rect">
            <a:avLst/>
          </a:prstGeom>
          <a:solidFill>
            <a:srgbClr val="F5F6F8"/>
          </a:solidFill>
          <a:ln w="12700">
            <a:solidFill>
              <a:srgbClr val="E9EBE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52560" y="3913632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 Included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02920" y="4572000"/>
            <a:ext cx="43891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457200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41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On-road price tool — OLA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074920" y="4572000"/>
            <a:ext cx="36576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12080" y="4572000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cities to start, scalable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8915400" y="4572000"/>
            <a:ext cx="1828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052560" y="4572000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 Included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02920" y="5230368"/>
            <a:ext cx="4389120" cy="658368"/>
          </a:xfrm>
          <a:prstGeom prst="rect">
            <a:avLst/>
          </a:prstGeom>
          <a:solidFill>
            <a:srgbClr val="F5F6F8"/>
          </a:solidFill>
          <a:ln w="12700">
            <a:solidFill>
              <a:srgbClr val="E9EBE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5230368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41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Monthly performance report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074920" y="5230368"/>
            <a:ext cx="3657600" cy="658368"/>
          </a:xfrm>
          <a:prstGeom prst="rect">
            <a:avLst/>
          </a:prstGeom>
          <a:solidFill>
            <a:srgbClr val="F5F6F8"/>
          </a:solidFill>
          <a:ln w="12700">
            <a:solidFill>
              <a:srgbClr val="E9EBE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12080" y="5230368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CPL, volume, conversion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8915400" y="5230368"/>
            <a:ext cx="1828800" cy="658368"/>
          </a:xfrm>
          <a:prstGeom prst="rect">
            <a:avLst/>
          </a:prstGeom>
          <a:solidFill>
            <a:srgbClr val="F5F6F8"/>
          </a:solidFill>
          <a:ln w="12700">
            <a:solidFill>
              <a:srgbClr val="E9EBE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052560" y="5230368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 Included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502920" y="5833872"/>
            <a:ext cx="11247120" cy="658368"/>
          </a:xfrm>
          <a:prstGeom prst="rect">
            <a:avLst/>
          </a:prstGeom>
          <a:solidFill>
            <a:srgbClr val="FAF0F0"/>
          </a:solidFill>
          <a:ln w="12700">
            <a:solidFill>
              <a:srgbClr val="E0B0B2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22960" y="590702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8B18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Duration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" y="615391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 days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2980944" y="590702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8B18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Cities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980944" y="615391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(your choice)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138928" y="590702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8B18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Guaranteed CPL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5138928" y="615391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 ₹300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7296912" y="590702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8B18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 delivery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7296912" y="615391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Real-time API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9454896" y="590702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8B18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Lock-in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9454896" y="615391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None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8B1820"/>
          </a:solidFill>
          <a:ln w="12700">
            <a:solidFill>
              <a:srgbClr val="8B1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11680" y="0"/>
            <a:ext cx="0" cy="6858000"/>
          </a:xfrm>
          <a:prstGeom prst="line">
            <a:avLst/>
          </a:prstGeom>
          <a:noFill/>
          <a:ln w="6350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023360" y="0"/>
            <a:ext cx="0" cy="6858000"/>
          </a:xfrm>
          <a:prstGeom prst="line">
            <a:avLst/>
          </a:prstGeom>
          <a:noFill/>
          <a:ln w="6350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35040" y="0"/>
            <a:ext cx="0" cy="6858000"/>
          </a:xfrm>
          <a:prstGeom prst="line">
            <a:avLst/>
          </a:prstGeom>
          <a:noFill/>
          <a:ln w="6350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0" y="0"/>
            <a:ext cx="0" cy="6858000"/>
          </a:xfrm>
          <a:prstGeom prst="line">
            <a:avLst/>
          </a:prstGeom>
          <a:noFill/>
          <a:ln w="6350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5029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[Brand]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2468880" y="804672"/>
            <a:ext cx="109728" cy="109728"/>
          </a:xfrm>
          <a:prstGeom prst="ellipse">
            <a:avLst/>
          </a:prstGeom>
          <a:solidFill>
            <a:srgbClr val="8B1820"/>
          </a:solidFill>
          <a:ln w="12700">
            <a:solidFill>
              <a:srgbClr val="8B18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280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8B18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NEXT STEPS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48640" y="1645920"/>
            <a:ext cx="10058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5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 the first EV brand</a:t>
            </a:r>
            <a:endParaRPr lang="en-US" sz="5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5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 Z discovers.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548640" y="4114800"/>
            <a:ext cx="3566160" cy="1645920"/>
          </a:xfrm>
          <a:prstGeom prst="rect">
            <a:avLst/>
          </a:prstGeom>
          <a:solidFill>
            <a:srgbClr val="1F1A18"/>
          </a:solidFill>
          <a:ln w="12700">
            <a:solidFill>
              <a:srgbClr val="8B18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422452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18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34440" y="4224528"/>
            <a:ext cx="2724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30-min call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13232" y="46817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098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Align on pilot cities, lead volume targets, CRM integration approach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43400" y="4114800"/>
            <a:ext cx="3566160" cy="1645920"/>
          </a:xfrm>
          <a:prstGeom prst="rect">
            <a:avLst/>
          </a:prstGeom>
          <a:solidFill>
            <a:srgbClr val="1F1A18"/>
          </a:solidFill>
          <a:ln w="12700">
            <a:solidFill>
              <a:srgbClr val="33302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07992" y="422452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18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0" y="4224528"/>
            <a:ext cx="2724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Pilot agreement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07992" y="46817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098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90-day, 3 cities, &lt; ₹300 CPL guaranteed — no lock-in clause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138160" y="4114800"/>
            <a:ext cx="3566160" cy="1645920"/>
          </a:xfrm>
          <a:prstGeom prst="rect">
            <a:avLst/>
          </a:prstGeom>
          <a:solidFill>
            <a:srgbClr val="1F1A18"/>
          </a:solidFill>
          <a:ln w="12700">
            <a:solidFill>
              <a:srgbClr val="33302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02752" y="422452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18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823960" y="4224528"/>
            <a:ext cx="2724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 live in 7 days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302752" y="46817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098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Brand hub, BYB integration, test ride capture — all live in one week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0" y="6172200"/>
            <a:ext cx="12161520" cy="685800"/>
          </a:xfrm>
          <a:prstGeom prst="rect">
            <a:avLst/>
          </a:prstGeom>
          <a:solidFill>
            <a:srgbClr val="8B1820"/>
          </a:solidFill>
          <a:ln w="12700">
            <a:solidFill>
              <a:srgbClr val="8B182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0" y="6172200"/>
            <a:ext cx="1216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partnerships@[brand].com  ·  [brand].com/advertise  ·  OEM Partnerships Team, India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[Brand]. × OLA Electric — Partnership Proposal</dc:title>
  <dc:subject>PptxGenJS Presentation</dc:subject>
  <dc:creator>PptxGenJS</dc:creator>
  <cp:lastModifiedBy>PptxGenJS</cp:lastModifiedBy>
  <cp:revision>1</cp:revision>
  <dcterms:created xsi:type="dcterms:W3CDTF">2026-06-06T02:48:52Z</dcterms:created>
  <dcterms:modified xsi:type="dcterms:W3CDTF">2026-06-06T02:48:52Z</dcterms:modified>
</cp:coreProperties>
</file>